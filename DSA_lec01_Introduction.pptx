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7" r:id="rId2"/>
    <p:sldId id="257" r:id="rId3"/>
    <p:sldId id="323" r:id="rId4"/>
    <p:sldId id="278" r:id="rId5"/>
    <p:sldId id="318" r:id="rId6"/>
    <p:sldId id="319" r:id="rId7"/>
    <p:sldId id="316" r:id="rId8"/>
    <p:sldId id="279" r:id="rId9"/>
    <p:sldId id="280" r:id="rId10"/>
    <p:sldId id="367" r:id="rId11"/>
    <p:sldId id="284" r:id="rId12"/>
    <p:sldId id="366" r:id="rId13"/>
    <p:sldId id="281" r:id="rId14"/>
    <p:sldId id="286" r:id="rId15"/>
    <p:sldId id="324" r:id="rId16"/>
    <p:sldId id="325" r:id="rId17"/>
    <p:sldId id="283" r:id="rId18"/>
    <p:sldId id="326" r:id="rId19"/>
    <p:sldId id="327" r:id="rId20"/>
    <p:sldId id="328" r:id="rId21"/>
    <p:sldId id="329" r:id="rId22"/>
    <p:sldId id="330" r:id="rId23"/>
    <p:sldId id="353" r:id="rId24"/>
    <p:sldId id="333" r:id="rId25"/>
    <p:sldId id="334" r:id="rId26"/>
    <p:sldId id="355" r:id="rId27"/>
    <p:sldId id="354" r:id="rId28"/>
    <p:sldId id="335" r:id="rId29"/>
    <p:sldId id="336" r:id="rId30"/>
    <p:sldId id="337" r:id="rId31"/>
    <p:sldId id="356" r:id="rId32"/>
    <p:sldId id="338" r:id="rId33"/>
    <p:sldId id="357" r:id="rId34"/>
    <p:sldId id="339" r:id="rId35"/>
    <p:sldId id="340" r:id="rId36"/>
    <p:sldId id="341" r:id="rId37"/>
    <p:sldId id="358" r:id="rId38"/>
    <p:sldId id="359" r:id="rId39"/>
    <p:sldId id="342" r:id="rId40"/>
    <p:sldId id="360" r:id="rId41"/>
    <p:sldId id="361" r:id="rId42"/>
    <p:sldId id="362" r:id="rId43"/>
    <p:sldId id="363" r:id="rId44"/>
    <p:sldId id="365" r:id="rId45"/>
    <p:sldId id="343" r:id="rId46"/>
    <p:sldId id="344" r:id="rId47"/>
    <p:sldId id="345" r:id="rId48"/>
    <p:sldId id="346" r:id="rId49"/>
    <p:sldId id="349" r:id="rId50"/>
    <p:sldId id="350" r:id="rId51"/>
    <p:sldId id="352" r:id="rId52"/>
  </p:sldIdLst>
  <p:sldSz cx="9144000" cy="6858000" type="screen4x3"/>
  <p:notesSz cx="10234613" cy="70993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6600"/>
    <a:srgbClr val="FF0000"/>
    <a:srgbClr val="009900"/>
    <a:srgbClr val="0000CC"/>
    <a:srgbClr val="800000"/>
    <a:srgbClr val="99CC00"/>
    <a:srgbClr val="DDDDDD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ลักษณะสีปานกลาง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108" d="100"/>
          <a:sy n="108" d="100"/>
        </p:scale>
        <p:origin x="171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20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435304" cy="35568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4" cy="35568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743619"/>
            <a:ext cx="4435304" cy="3556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022" y="6743619"/>
            <a:ext cx="4435304" cy="3556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EC456-BC88-4E88-B917-1CD2634F7D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02956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434998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247" y="0"/>
            <a:ext cx="4434998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462" y="3372167"/>
            <a:ext cx="8187690" cy="3194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743103"/>
            <a:ext cx="4434998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247" y="6743103"/>
            <a:ext cx="4434998" cy="354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E55894B0-D06A-4C39-9AC7-00806FC450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8926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5894B0-D06A-4C39-9AC7-00806FC450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17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5894B0-D06A-4C39-9AC7-00806FC4503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80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h-TH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06B3E9-B29F-40D8-8148-5395EDB0C737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50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5894B0-D06A-4C39-9AC7-00806FC4503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2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2984A-F631-4198-9A26-390900E9A0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9E45FA-AFE7-407E-927D-71422375B8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6B8DF-7F68-4633-8C72-4EA894A6B5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51F28-26D7-462F-8D23-5275CA0C9F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89252-662E-4FEE-B3A9-C008B2D47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58E828-CDFC-4266-ABFD-F33523A737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32886-629D-45DE-8744-E314EB933B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A04AD-C6D0-4817-9F13-6B5413901D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DE544-17FB-4596-BA5B-07F5DE4DF7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65D78-E677-42A4-8C04-9BB041571C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ADD8A-53C1-4B0D-805B-EDABE67114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747FAD64-D645-46DF-86C8-9860463658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mbria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group of buildings surrounded by trees&#10;&#10;Description automatically generated with low confidence">
            <a:extLst>
              <a:ext uri="{FF2B5EF4-FFF2-40B4-BE49-F238E27FC236}">
                <a16:creationId xmlns:a16="http://schemas.microsoft.com/office/drawing/2014/main" id="{A5967485-C248-E04D-9694-7B84905F0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3" r="11641" b="-2"/>
          <a:stretch/>
        </p:blipFill>
        <p:spPr bwMode="auto">
          <a:xfrm>
            <a:off x="3620716" y="3467501"/>
            <a:ext cx="5523284" cy="3390499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9184" y="1524659"/>
            <a:ext cx="3764305" cy="27740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eaLnBrk="1" hangingPunct="1">
              <a:lnSpc>
                <a:spcPct val="90000"/>
              </a:lnSpc>
              <a:defRPr/>
            </a:pPr>
            <a:r>
              <a:rPr lang="en-US" sz="36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1501118</a:t>
            </a:r>
            <a:br>
              <a:rPr lang="en-US" sz="36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Data Structures and Algorithms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Lecture 1: 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9184" y="4687367"/>
            <a:ext cx="3688461" cy="1335024"/>
          </a:xfrm>
        </p:spPr>
        <p:txBody>
          <a:bodyPr vert="horz" lIns="91440" tIns="45720" rIns="91440" bIns="45720" rtlCol="0">
            <a:normAutofit/>
          </a:bodyPr>
          <a:lstStyle/>
          <a:p>
            <a:pPr algn="l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School of Information Technology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3814" y="6230351"/>
            <a:ext cx="3643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i="1" dirty="0">
                <a:latin typeface="Cambria" pitchFamily="18" charset="0"/>
              </a:rPr>
              <a:t>Copyright  2023 School of IT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88640"/>
            <a:ext cx="4572000" cy="29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2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759B3-74E7-453A-B320-66EAE8317BD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Course Outline</a:t>
            </a:r>
          </a:p>
          <a:p>
            <a:pPr eaLnBrk="1" hangingPunct="1"/>
            <a:r>
              <a:rPr lang="en-US" dirty="0"/>
              <a:t>Review of Object-Oriented Programming</a:t>
            </a:r>
          </a:p>
          <a:p>
            <a:pPr eaLnBrk="1" hangingPunct="1"/>
            <a:r>
              <a:rPr lang="en-US" dirty="0"/>
              <a:t>Summary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Studying Data Structures &amp; Algorithms?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Recently we are in </a:t>
            </a:r>
            <a:r>
              <a:rPr lang="en-US" dirty="0">
                <a:solidFill>
                  <a:srgbClr val="0000CC"/>
                </a:solidFill>
              </a:rPr>
              <a:t>information age</a:t>
            </a:r>
          </a:p>
          <a:p>
            <a:r>
              <a:rPr lang="en-US" dirty="0"/>
              <a:t>All processes need data i.e. social networking, online shopping etc.</a:t>
            </a:r>
          </a:p>
          <a:p>
            <a:r>
              <a:rPr lang="en-US" dirty="0">
                <a:solidFill>
                  <a:srgbClr val="FF0000"/>
                </a:solidFill>
              </a:rPr>
              <a:t>Big data / Information Overload</a:t>
            </a:r>
          </a:p>
          <a:p>
            <a:r>
              <a:rPr lang="en-US" dirty="0"/>
              <a:t>How to </a:t>
            </a:r>
            <a:r>
              <a:rPr lang="en-US" dirty="0">
                <a:solidFill>
                  <a:srgbClr val="009900"/>
                </a:solidFill>
              </a:rPr>
              <a:t>store, access and modify </a:t>
            </a:r>
            <a:r>
              <a:rPr lang="en-US" dirty="0"/>
              <a:t>data efficiently?</a:t>
            </a:r>
          </a:p>
          <a:p>
            <a:pPr lvl="1"/>
            <a:r>
              <a:rPr lang="en-US" dirty="0"/>
              <a:t>Local storage i.e. files and databases</a:t>
            </a:r>
          </a:p>
          <a:p>
            <a:pPr lvl="1"/>
            <a:r>
              <a:rPr lang="en-US" dirty="0">
                <a:solidFill>
                  <a:srgbClr val="800000"/>
                </a:solidFill>
              </a:rPr>
              <a:t>Cloud or distributed data 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Studying Data Structures &amp; Algorithms?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are crucial for processing</a:t>
            </a:r>
          </a:p>
          <a:p>
            <a:r>
              <a:rPr lang="en-US" dirty="0"/>
              <a:t>To process data efficiently, we need to keep data in </a:t>
            </a:r>
            <a:r>
              <a:rPr lang="en-US" i="1" dirty="0">
                <a:solidFill>
                  <a:srgbClr val="0000CC"/>
                </a:solidFill>
              </a:rPr>
              <a:t>suitable structures </a:t>
            </a:r>
            <a:r>
              <a:rPr lang="en-US" dirty="0"/>
              <a:t>and select the </a:t>
            </a:r>
            <a:r>
              <a:rPr lang="en-US" i="1" dirty="0">
                <a:solidFill>
                  <a:srgbClr val="009900"/>
                </a:solidFill>
              </a:rPr>
              <a:t>appropriate algorithms</a:t>
            </a:r>
          </a:p>
          <a:p>
            <a:r>
              <a:rPr lang="en-US" dirty="0"/>
              <a:t>Efficient data structures and algorithms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i="1" dirty="0">
                <a:solidFill>
                  <a:srgbClr val="FF0000"/>
                </a:solidFill>
                <a:sym typeface="Wingdings" pitchFamily="2" charset="2"/>
              </a:rPr>
              <a:t>less required resources </a:t>
            </a:r>
            <a:r>
              <a:rPr lang="en-US" dirty="0">
                <a:sym typeface="Wingdings" pitchFamily="2" charset="2"/>
              </a:rPr>
              <a:t>(time, memory etc.)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5" name="Picture 4" descr="raseone-file-cabine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63888" y="4979618"/>
            <a:ext cx="1872208" cy="1519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keep </a:t>
            </a:r>
            <a:r>
              <a:rPr lang="en-US" dirty="0">
                <a:solidFill>
                  <a:srgbClr val="0000CC"/>
                </a:solidFill>
              </a:rPr>
              <a:t>a value</a:t>
            </a:r>
            <a:r>
              <a:rPr lang="en-US" dirty="0"/>
              <a:t>, we can use </a:t>
            </a:r>
            <a:r>
              <a:rPr lang="en-US" dirty="0">
                <a:solidFill>
                  <a:srgbClr val="0000CC"/>
                </a:solidFill>
              </a:rPr>
              <a:t>a variable</a:t>
            </a:r>
          </a:p>
          <a:p>
            <a:r>
              <a:rPr lang="en-US" dirty="0"/>
              <a:t>To keep </a:t>
            </a:r>
            <a:r>
              <a:rPr lang="en-US" dirty="0">
                <a:solidFill>
                  <a:srgbClr val="009900"/>
                </a:solidFill>
              </a:rPr>
              <a:t>two values </a:t>
            </a:r>
            <a:r>
              <a:rPr lang="en-US" dirty="0">
                <a:sym typeface="Wingdings" pitchFamily="2" charset="2"/>
              </a:rPr>
              <a:t> use </a:t>
            </a:r>
            <a:r>
              <a:rPr lang="en-US" dirty="0">
                <a:solidFill>
                  <a:srgbClr val="009900"/>
                </a:solidFill>
                <a:sym typeface="Wingdings" pitchFamily="2" charset="2"/>
              </a:rPr>
              <a:t>two variables</a:t>
            </a:r>
          </a:p>
          <a:p>
            <a:r>
              <a:rPr lang="en-US" dirty="0">
                <a:sym typeface="Wingdings" pitchFamily="2" charset="2"/>
              </a:rPr>
              <a:t>To keep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100 values</a:t>
            </a:r>
            <a:r>
              <a:rPr lang="en-US" dirty="0">
                <a:sym typeface="Wingdings" pitchFamily="2" charset="2"/>
              </a:rPr>
              <a:t>?</a:t>
            </a:r>
          </a:p>
          <a:p>
            <a:pPr lvl="1"/>
            <a:r>
              <a:rPr lang="en-US" dirty="0">
                <a:sym typeface="Wingdings" pitchFamily="2" charset="2"/>
              </a:rPr>
              <a:t>It may not be good to declare </a:t>
            </a:r>
            <a:r>
              <a:rPr lang="en-US" strike="sngStrike" dirty="0">
                <a:solidFill>
                  <a:srgbClr val="C00000"/>
                </a:solidFill>
                <a:sym typeface="Wingdings" pitchFamily="2" charset="2"/>
              </a:rPr>
              <a:t>100 variables</a:t>
            </a:r>
          </a:p>
          <a:p>
            <a:pPr lvl="1"/>
            <a:r>
              <a:rPr lang="en-US" dirty="0">
                <a:sym typeface="Wingdings" pitchFamily="2" charset="2"/>
              </a:rPr>
              <a:t>It may be difficult to access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a value at the 50</a:t>
            </a:r>
            <a:r>
              <a:rPr lang="en-US" baseline="30000" dirty="0">
                <a:solidFill>
                  <a:srgbClr val="C00000"/>
                </a:solidFill>
                <a:sym typeface="Wingdings" pitchFamily="2" charset="2"/>
              </a:rPr>
              <a:t>th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 position</a:t>
            </a:r>
          </a:p>
          <a:p>
            <a:r>
              <a:rPr lang="en-US" dirty="0">
                <a:sym typeface="Wingdings" pitchFamily="2" charset="2"/>
              </a:rPr>
              <a:t>OK, we can use </a:t>
            </a:r>
            <a:r>
              <a:rPr lang="en-US" dirty="0">
                <a:solidFill>
                  <a:srgbClr val="CC0099"/>
                </a:solidFill>
                <a:sym typeface="Wingdings" pitchFamily="2" charset="2"/>
              </a:rPr>
              <a:t>an array </a:t>
            </a:r>
            <a:r>
              <a:rPr lang="en-US" dirty="0">
                <a:sym typeface="Wingdings" pitchFamily="2" charset="2"/>
              </a:rPr>
              <a:t>of 100 members</a:t>
            </a:r>
          </a:p>
          <a:p>
            <a:pPr lvl="1"/>
            <a:r>
              <a:rPr lang="en-US" dirty="0">
                <a:sym typeface="Wingdings" pitchFamily="2" charset="2"/>
              </a:rPr>
              <a:t>how about </a:t>
            </a:r>
            <a:r>
              <a:rPr lang="en-US" dirty="0">
                <a:solidFill>
                  <a:srgbClr val="00B0F0"/>
                </a:solidFill>
                <a:sym typeface="Wingdings" pitchFamily="2" charset="2"/>
              </a:rPr>
              <a:t>adding a 101</a:t>
            </a:r>
            <a:r>
              <a:rPr lang="en-US" baseline="30000" dirty="0">
                <a:solidFill>
                  <a:srgbClr val="00B0F0"/>
                </a:solidFill>
                <a:sym typeface="Wingdings" pitchFamily="2" charset="2"/>
              </a:rPr>
              <a:t>st</a:t>
            </a:r>
            <a:r>
              <a:rPr lang="en-US" dirty="0">
                <a:solidFill>
                  <a:srgbClr val="00B0F0"/>
                </a:solidFill>
                <a:sym typeface="Wingdings" pitchFamily="2" charset="2"/>
              </a:rPr>
              <a:t> member to an array?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five numbers: </a:t>
            </a:r>
            <a:r>
              <a:rPr lang="en-US" dirty="0">
                <a:solidFill>
                  <a:srgbClr val="0000CC"/>
                </a:solidFill>
              </a:rPr>
              <a:t>4 1 3 5 2</a:t>
            </a:r>
          </a:p>
          <a:p>
            <a:r>
              <a:rPr lang="en-US" dirty="0"/>
              <a:t>What is the </a:t>
            </a:r>
            <a:r>
              <a:rPr lang="en-US" dirty="0">
                <a:solidFill>
                  <a:srgbClr val="FF0000"/>
                </a:solidFill>
              </a:rPr>
              <a:t>maximum</a:t>
            </a:r>
            <a:r>
              <a:rPr lang="en-US" dirty="0"/>
              <a:t>?</a:t>
            </a:r>
          </a:p>
          <a:p>
            <a:r>
              <a:rPr lang="en-US" dirty="0"/>
              <a:t>What is the </a:t>
            </a:r>
            <a:r>
              <a:rPr lang="en-US" dirty="0">
                <a:solidFill>
                  <a:srgbClr val="CC0099"/>
                </a:solidFill>
              </a:rPr>
              <a:t>minimum</a:t>
            </a:r>
            <a:r>
              <a:rPr lang="en-US" dirty="0"/>
              <a:t>?</a:t>
            </a:r>
          </a:p>
          <a:p>
            <a:r>
              <a:rPr lang="en-US" dirty="0"/>
              <a:t>Can we </a:t>
            </a:r>
            <a:r>
              <a:rPr lang="en-US" dirty="0">
                <a:solidFill>
                  <a:srgbClr val="009900"/>
                </a:solidFill>
              </a:rPr>
              <a:t>sort</a:t>
            </a:r>
            <a:r>
              <a:rPr lang="en-US" dirty="0"/>
              <a:t> these numbers in </a:t>
            </a:r>
            <a:r>
              <a:rPr lang="en-US" dirty="0">
                <a:solidFill>
                  <a:srgbClr val="009900"/>
                </a:solidFill>
              </a:rPr>
              <a:t>ascending</a:t>
            </a:r>
            <a:r>
              <a:rPr lang="en-US" dirty="0"/>
              <a:t> and </a:t>
            </a:r>
            <a:r>
              <a:rPr lang="en-US" dirty="0">
                <a:solidFill>
                  <a:srgbClr val="009900"/>
                </a:solidFill>
              </a:rPr>
              <a:t>descending</a:t>
            </a:r>
            <a:r>
              <a:rPr lang="en-US" dirty="0"/>
              <a:t> orders?</a:t>
            </a:r>
          </a:p>
          <a:p>
            <a:r>
              <a:rPr lang="en-US" dirty="0">
                <a:solidFill>
                  <a:srgbClr val="C00000"/>
                </a:solidFill>
              </a:rPr>
              <a:t>Is there a value “5” in this list? If yes, where is it?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7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Suggested Self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Programming</a:t>
            </a:r>
          </a:p>
          <a:p>
            <a:r>
              <a:rPr lang="en-US" dirty="0"/>
              <a:t>Object-Oriented Programming</a:t>
            </a:r>
            <a:endParaRPr lang="th-TH" dirty="0"/>
          </a:p>
          <a:p>
            <a:r>
              <a:rPr lang="en-US" dirty="0"/>
              <a:t>Mathematics 1 / Math for IT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1501118</a:t>
            </a:r>
            <a:r>
              <a:rPr lang="en-US" dirty="0"/>
              <a:t> </a:t>
            </a:r>
            <a:r>
              <a:rPr lang="en-US" b="1" dirty="0"/>
              <a:t>Data Structures and Algorithms</a:t>
            </a:r>
          </a:p>
          <a:p>
            <a:r>
              <a:rPr lang="en-US" dirty="0"/>
              <a:t>Credits </a:t>
            </a:r>
            <a:r>
              <a:rPr lang="en-US" b="1" dirty="0">
                <a:solidFill>
                  <a:srgbClr val="FF0000"/>
                </a:solidFill>
              </a:rPr>
              <a:t>3(2-2-5)</a:t>
            </a:r>
          </a:p>
          <a:p>
            <a:r>
              <a:rPr lang="en-US" dirty="0">
                <a:solidFill>
                  <a:srgbClr val="0000CC"/>
                </a:solidFill>
              </a:rPr>
              <a:t>Array; linked lists; stacks; queues; tree; graph; hash table;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algorithm analysis; recursion; sorting; searching.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Plan: Midterm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551308"/>
              </p:ext>
            </p:extLst>
          </p:nvPr>
        </p:nvGraphicFramePr>
        <p:xfrm>
          <a:off x="450168" y="1268760"/>
          <a:ext cx="8236632" cy="547528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2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7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16 Jan -20 Jan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Introduction, Review of Computer Programming Fundamentals</a:t>
                      </a:r>
                      <a:r>
                        <a:rPr lang="th-TH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Lect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01-02)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23 Jan -27 Jan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solidFill>
                            <a:schemeClr val="tx1"/>
                          </a:solidFill>
                        </a:rPr>
                        <a:t>Introduction, Review of Computer Programming Fundamentals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u="none" dirty="0" err="1">
                          <a:solidFill>
                            <a:schemeClr val="tx1"/>
                          </a:solidFill>
                        </a:rPr>
                        <a:t>Lect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</a:rPr>
                        <a:t> 03)</a:t>
                      </a:r>
                      <a:endParaRPr lang="en-US" sz="1800" u="none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30 Jan – 3 Feb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dirty="0">
                          <a:solidFill>
                            <a:schemeClr val="tx1"/>
                          </a:solidFill>
                        </a:rPr>
                        <a:t>Array</a:t>
                      </a:r>
                      <a:endParaRPr lang="en-GB" sz="14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6 Feb – 10 Feb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AngsanaUPC" panose="02020603050405020304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 Lists 1 (+ Quiz)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13 Feb – 17 Feb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AngsanaUPC" panose="02020603050405020304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Linked Lists 2 and Algorithm Analysis </a:t>
                      </a:r>
                    </a:p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(+ Quiz)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3995645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20 Feb – 24 Feb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AngsanaUPC" panose="02020603050405020304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Recursion (+ Quiz)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3369611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27 Feb – 3 Mar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AngsanaUPC" panose="02020603050405020304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Stacks (+ Quiz)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7294308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6 Mar – 10 Mar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 and Lab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Makha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Bucha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Day (class will be made up)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7012802"/>
                  </a:ext>
                </a:extLst>
              </a:tr>
              <a:tr h="6080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13 Mar – 19 Mar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MIDTERM EXAMINATION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19651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Plan: 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89876"/>
              </p:ext>
            </p:extLst>
          </p:nvPr>
        </p:nvGraphicFramePr>
        <p:xfrm>
          <a:off x="457200" y="1541312"/>
          <a:ext cx="8229601" cy="50420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5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7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20 Mar – 24 Mar</a:t>
                      </a: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Queues</a:t>
                      </a:r>
                      <a:endParaRPr lang="en-GB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27 Mar – 31 Mar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Searching and Hash Tables (+ Quiz)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3 Apr – 7 Apr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Sorting (+ Quiz)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Chakri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Day (class will be made up)</a:t>
                      </a:r>
                      <a:endParaRPr kumimoji="0" lang="en-GB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10 Apr – 14 Apr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Holiday: Songkran Festival (Thai New Year)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028548"/>
                  </a:ext>
                </a:extLst>
              </a:tr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17 Apr – 21 Apr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Trees (+ Quiz)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4512966"/>
                  </a:ext>
                </a:extLst>
              </a:tr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24 Apr – 28 Apr</a:t>
                      </a: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  <a:cs typeface="AngsanaUPC" panose="02020603050405020304" pitchFamily="18" charset="-3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Graphs 1 (+ Quiz)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2977573"/>
                  </a:ext>
                </a:extLst>
              </a:tr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1 May – 5 May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Review, and Lab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Coronation Day (class will be made up)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8703603"/>
                  </a:ext>
                </a:extLst>
              </a:tr>
              <a:tr h="630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Calibri" panose="020F0502020204030204" pitchFamily="34" charset="0"/>
                          <a:cs typeface="AngsanaUPC" panose="02020603050405020304" pitchFamily="18" charset="-34"/>
                        </a:rPr>
                        <a:t>8 May – 19 May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Final Examination + Project Presentation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767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01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" y="1554577"/>
            <a:ext cx="13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Onsite:</a:t>
            </a:r>
          </a:p>
        </p:txBody>
      </p:sp>
      <p:graphicFrame>
        <p:nvGraphicFramePr>
          <p:cNvPr id="8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036817"/>
              </p:ext>
            </p:extLst>
          </p:nvPr>
        </p:nvGraphicFramePr>
        <p:xfrm>
          <a:off x="107504" y="2060848"/>
          <a:ext cx="8928991" cy="3200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Wed 13:00 – 15:00 @ E3-B101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13:00 – 15:00 @ S1-201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Wed 13:00 – 15:00 @ E3-B101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13:00 – 15:00 @ S1-202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87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Fri 8:00 – 10:00 @</a:t>
                      </a:r>
                      <a:r>
                        <a:rPr lang="en-US" sz="2400" baseline="0" dirty="0"/>
                        <a:t> C1-313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10:00 – 12:00 @</a:t>
                      </a:r>
                      <a:r>
                        <a:rPr lang="en-US" sz="2400" baseline="0" dirty="0"/>
                        <a:t> S1-201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42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Fri 8:00 – 10:00 @</a:t>
                      </a:r>
                      <a:r>
                        <a:rPr lang="en-US" sz="2400" baseline="0" dirty="0"/>
                        <a:t> C1-313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10:00 – 12:00 @</a:t>
                      </a:r>
                      <a:r>
                        <a:rPr lang="en-US" sz="2400" baseline="0" dirty="0"/>
                        <a:t> S1-202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692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10:00 – 12:00 @</a:t>
                      </a:r>
                      <a:r>
                        <a:rPr lang="en-US" sz="2400" baseline="0" dirty="0"/>
                        <a:t> C2-406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13:00 – 15:00 @ S1-305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159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10:00 – 12:00 @</a:t>
                      </a:r>
                      <a:r>
                        <a:rPr lang="en-US" sz="2400" baseline="0" dirty="0"/>
                        <a:t> C2-406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Fri 15:00 – 17:00 @ S1-305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9869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768043"/>
              </p:ext>
            </p:extLst>
          </p:nvPr>
        </p:nvGraphicFramePr>
        <p:xfrm>
          <a:off x="2442592" y="1324427"/>
          <a:ext cx="4258816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33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Online Exercise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511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Lab Assignment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strike="noStrike" dirty="0">
                          <a:solidFill>
                            <a:schemeClr val="tx1"/>
                          </a:solidFill>
                        </a:rPr>
                        <a:t> 10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Online Quiz 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strike="noStrike" dirty="0">
                          <a:solidFill>
                            <a:schemeClr val="tx1"/>
                          </a:solidFill>
                        </a:rPr>
                        <a:t>Online Lab</a:t>
                      </a:r>
                      <a:r>
                        <a:rPr lang="en-US" sz="2400" strike="noStrike" baseline="0" dirty="0">
                          <a:solidFill>
                            <a:schemeClr val="tx1"/>
                          </a:solidFill>
                        </a:rPr>
                        <a:t> Test 1+2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strike="noStrike" dirty="0">
                          <a:solidFill>
                            <a:schemeClr val="tx1"/>
                          </a:solidFill>
                        </a:rPr>
                        <a:t>5+10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Onsite Midterm Exam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20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Onsite Final Exam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Group Presentation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dirty="0"/>
                        <a:t> 10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Rounded Rectangular Callout 2"/>
          <p:cNvSpPr/>
          <p:nvPr/>
        </p:nvSpPr>
        <p:spPr>
          <a:xfrm rot="16200000">
            <a:off x="961257" y="1286186"/>
            <a:ext cx="792088" cy="1512168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Self Management</a:t>
            </a:r>
          </a:p>
        </p:txBody>
      </p:sp>
      <p:sp>
        <p:nvSpPr>
          <p:cNvPr id="6" name="Rounded Rectangular Callout 5"/>
          <p:cNvSpPr/>
          <p:nvPr/>
        </p:nvSpPr>
        <p:spPr>
          <a:xfrm rot="16200000">
            <a:off x="889248" y="2553735"/>
            <a:ext cx="792088" cy="1656184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Understanding</a:t>
            </a:r>
          </a:p>
        </p:txBody>
      </p:sp>
      <p:sp>
        <p:nvSpPr>
          <p:cNvPr id="8" name="Rounded Rectangular Callout 7"/>
          <p:cNvSpPr/>
          <p:nvPr/>
        </p:nvSpPr>
        <p:spPr>
          <a:xfrm rot="16200000">
            <a:off x="1023020" y="3950540"/>
            <a:ext cx="792088" cy="1512169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Team Work</a:t>
            </a:r>
          </a:p>
        </p:txBody>
      </p:sp>
    </p:spTree>
    <p:extLst>
      <p:ext uri="{BB962C8B-B14F-4D97-AF65-F5344CB8AC3E}">
        <p14:creationId xmlns:p14="http://schemas.microsoft.com/office/powerpoint/2010/main" val="2797661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Criteria-based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527488"/>
              </p:ext>
            </p:extLst>
          </p:nvPr>
        </p:nvGraphicFramePr>
        <p:xfrm>
          <a:off x="1763688" y="2348880"/>
          <a:ext cx="6096000" cy="4114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Grade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[80,100]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[75,79.99]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[70,74.99]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[65,69.99]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[60,64.99]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[55,59.99]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[50,54.99]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[0,49.99]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6617" y="1624821"/>
            <a:ext cx="268611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619672" y="57332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Image source: http://www.amazon.com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3275856" y="1624821"/>
            <a:ext cx="5616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M. T. Goodrich, R. </a:t>
            </a:r>
            <a:r>
              <a:rPr lang="en-US" dirty="0" err="1"/>
              <a:t>Tamassia</a:t>
            </a:r>
            <a:r>
              <a:rPr lang="en-US" dirty="0"/>
              <a:t>, and M. H. </a:t>
            </a:r>
            <a:r>
              <a:rPr lang="en-US" dirty="0" err="1"/>
              <a:t>Goldwasser</a:t>
            </a:r>
            <a:r>
              <a:rPr lang="en-US" dirty="0"/>
              <a:t>, </a:t>
            </a:r>
            <a:r>
              <a:rPr lang="en-US" b="1" dirty="0"/>
              <a:t>Data Structures and Algorithms in Java</a:t>
            </a:r>
            <a:r>
              <a:rPr lang="en-US" dirty="0"/>
              <a:t>, 6 edition. Hoboken, NJ: Wiley, 2014.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19672" y="57332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Image source: http://www.amazon.com</a:t>
            </a:r>
          </a:p>
        </p:txBody>
      </p:sp>
      <p:pic>
        <p:nvPicPr>
          <p:cNvPr id="3074" name="Picture 2" descr="https://images-na.ssl-images-amazon.com/images/I/51nMQVyHG3L._SX391_BO1,204,203,200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86" y="1629134"/>
            <a:ext cx="2595571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03848" y="1629134"/>
            <a:ext cx="54829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A. Drozdek, </a:t>
            </a:r>
            <a:r>
              <a:rPr lang="en-US" b="1" dirty="0"/>
              <a:t>Data structures and algorithms in Java</a:t>
            </a:r>
            <a:r>
              <a:rPr lang="en-US" dirty="0"/>
              <a:t>, 4th edition. Singapore: Cengage Learning Asia, 2013.</a:t>
            </a:r>
          </a:p>
        </p:txBody>
      </p:sp>
    </p:spTree>
    <p:extLst>
      <p:ext uri="{BB962C8B-B14F-4D97-AF65-F5344CB8AC3E}">
        <p14:creationId xmlns:p14="http://schemas.microsoft.com/office/powerpoint/2010/main" val="329606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780" y="1624821"/>
            <a:ext cx="245745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619672" y="57332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Image source: http://www.amazon.com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3848" y="1621035"/>
            <a:ext cx="540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J. Hubbard, </a:t>
            </a:r>
            <a:r>
              <a:rPr lang="en-US" b="1" dirty="0" err="1"/>
              <a:t>Schaum’s</a:t>
            </a:r>
            <a:r>
              <a:rPr lang="en-US" b="1" dirty="0"/>
              <a:t> Outline of Data Structures with Java</a:t>
            </a:r>
            <a:r>
              <a:rPr lang="en-US" dirty="0"/>
              <a:t>, 2ed, 2 edition. New York: McGraw-Hill, 2009.</a:t>
            </a:r>
          </a:p>
        </p:txBody>
      </p:sp>
    </p:spTree>
    <p:extLst>
      <p:ext uri="{BB962C8B-B14F-4D97-AF65-F5344CB8AC3E}">
        <p14:creationId xmlns:p14="http://schemas.microsoft.com/office/powerpoint/2010/main" val="3842637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B64E7CB-65ED-D348-99DF-CB3C9C1E8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336848"/>
              </p:ext>
            </p:extLst>
          </p:nvPr>
        </p:nvGraphicFramePr>
        <p:xfrm>
          <a:off x="1691680" y="1381254"/>
          <a:ext cx="5681442" cy="4685266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843539">
                  <a:extLst>
                    <a:ext uri="{9D8B030D-6E8A-4147-A177-3AD203B41FA5}">
                      <a16:colId xmlns:a16="http://schemas.microsoft.com/office/drawing/2014/main" val="3062736550"/>
                    </a:ext>
                  </a:extLst>
                </a:gridCol>
                <a:gridCol w="2541465">
                  <a:extLst>
                    <a:ext uri="{9D8B030D-6E8A-4147-A177-3AD203B41FA5}">
                      <a16:colId xmlns:a16="http://schemas.microsoft.com/office/drawing/2014/main" val="3717846797"/>
                    </a:ext>
                  </a:extLst>
                </a:gridCol>
                <a:gridCol w="2296438">
                  <a:extLst>
                    <a:ext uri="{9D8B030D-6E8A-4147-A177-3AD203B41FA5}">
                      <a16:colId xmlns:a16="http://schemas.microsoft.com/office/drawing/2014/main" val="543018842"/>
                    </a:ext>
                  </a:extLst>
                </a:gridCol>
              </a:tblGrid>
              <a:tr h="371109">
                <a:tc>
                  <a:txBody>
                    <a:bodyPr/>
                    <a:lstStyle/>
                    <a:p>
                      <a:pPr algn="ctr"/>
                      <a:r>
                        <a:rPr lang="en-TH" dirty="0"/>
                        <a:t>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1-4</a:t>
                      </a:r>
                      <a:endParaRPr lang="en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5-6</a:t>
                      </a:r>
                      <a:endParaRPr lang="en-T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537077"/>
                  </a:ext>
                </a:extLst>
              </a:tr>
              <a:tr h="2584840">
                <a:tc>
                  <a:txBody>
                    <a:bodyPr/>
                    <a:lstStyle/>
                    <a:p>
                      <a:r>
                        <a:rPr lang="en-TH" dirty="0"/>
                        <a:t>Image: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944586"/>
                  </a:ext>
                </a:extLst>
              </a:tr>
              <a:tr h="777728">
                <a:tc>
                  <a:txBody>
                    <a:bodyPr/>
                    <a:lstStyle/>
                    <a:p>
                      <a:r>
                        <a:rPr lang="en-TH" dirty="0"/>
                        <a:t>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Aj</a:t>
                      </a:r>
                      <a:r>
                        <a:rPr lang="en-US" sz="16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. </a:t>
                      </a:r>
                      <a:r>
                        <a:rPr lang="en-US" sz="16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Dr.Paweena</a:t>
                      </a:r>
                      <a:r>
                        <a:rPr lang="en-US" sz="16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Suebsombut</a:t>
                      </a:r>
                      <a:endParaRPr lang="en-TH" sz="1600" dirty="0"/>
                    </a:p>
                    <a:p>
                      <a:pPr algn="ctr"/>
                      <a:endParaRPr lang="en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Asst. Prof. </a:t>
                      </a:r>
                      <a:r>
                        <a:rPr lang="en-US" sz="16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Dr.Worasak</a:t>
                      </a:r>
                      <a:r>
                        <a:rPr lang="en-US" sz="16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600" b="0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Rueangsirarak</a:t>
                      </a:r>
                      <a:endParaRPr lang="en-T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263885"/>
                  </a:ext>
                </a:extLst>
              </a:tr>
              <a:tr h="9063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dirty="0"/>
                        <a:t>Email: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paweena.sue@mfu.ac.th</a:t>
                      </a:r>
                      <a:endParaRPr lang="en-TH" sz="1600" dirty="0"/>
                    </a:p>
                    <a:p>
                      <a:endParaRPr lang="en-TH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worasak.rue@mfu.ac.th</a:t>
                      </a:r>
                      <a:endParaRPr lang="en-T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879851"/>
                  </a:ext>
                </a:extLst>
              </a:tr>
            </a:tbl>
          </a:graphicData>
        </a:graphic>
      </p:graphicFrame>
      <p:pic>
        <p:nvPicPr>
          <p:cNvPr id="12" name="Picture 11" descr="A person in a suit&#10;&#10;Description automatically generated with medium confidence">
            <a:extLst>
              <a:ext uri="{FF2B5EF4-FFF2-40B4-BE49-F238E27FC236}">
                <a16:creationId xmlns:a16="http://schemas.microsoft.com/office/drawing/2014/main" id="{CEBE67F3-DCBF-2144-9AD5-C7AB1665E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563" y="1865139"/>
            <a:ext cx="1626273" cy="2433643"/>
          </a:xfrm>
          <a:prstGeom prst="rect">
            <a:avLst/>
          </a:prstGeom>
        </p:spPr>
      </p:pic>
      <p:pic>
        <p:nvPicPr>
          <p:cNvPr id="14" name="Picture 13" descr="A picture containing person, wall, clothing, posing&#10;&#10;Description automatically generated">
            <a:extLst>
              <a:ext uri="{FF2B5EF4-FFF2-40B4-BE49-F238E27FC236}">
                <a16:creationId xmlns:a16="http://schemas.microsoft.com/office/drawing/2014/main" id="{9163B0DC-6140-144A-839D-73B2755D1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185" y="1894288"/>
            <a:ext cx="1583562" cy="23753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4406900"/>
            <a:ext cx="8170168" cy="1362075"/>
          </a:xfrm>
        </p:spPr>
        <p:txBody>
          <a:bodyPr/>
          <a:lstStyle/>
          <a:p>
            <a:r>
              <a:rPr lang="en-GB" dirty="0"/>
              <a:t>Object-Oriented Programing</a:t>
            </a:r>
            <a:br>
              <a:rPr lang="en-GB" dirty="0"/>
            </a:br>
            <a:r>
              <a:rPr lang="en-GB" dirty="0"/>
              <a:t>(Java—CLASS)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96B8DF-7F68-4633-8C72-4EA894A6B57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48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340768"/>
            <a:ext cx="815087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55576" y="630932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+mn-lt"/>
              </a:rPr>
              <a:t>Image source: M. T. Goodrich et. al., Data Structures and Algorithms in Java </a:t>
            </a:r>
          </a:p>
        </p:txBody>
      </p:sp>
    </p:spTree>
    <p:extLst>
      <p:ext uri="{BB962C8B-B14F-4D97-AF65-F5344CB8AC3E}">
        <p14:creationId xmlns:p14="http://schemas.microsoft.com/office/powerpoint/2010/main" val="1927880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Based Type (Primitive Type)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58E828-CDFC-4266-ABFD-F33523A7374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72816"/>
            <a:ext cx="760464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55576" y="630932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+mn-lt"/>
              </a:rPr>
              <a:t>Image source: M. T. Goodrich et. al., Data Structures and Algorithms in Java </a:t>
            </a:r>
          </a:p>
        </p:txBody>
      </p:sp>
    </p:spTree>
    <p:extLst>
      <p:ext uri="{BB962C8B-B14F-4D97-AF65-F5344CB8AC3E}">
        <p14:creationId xmlns:p14="http://schemas.microsoft.com/office/powerpoint/2010/main" val="253311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solidFill>
                  <a:srgbClr val="FF0000"/>
                </a:solidFill>
              </a:rPr>
              <a:t>Structured (Procedural) Programming</a:t>
            </a:r>
          </a:p>
          <a:p>
            <a:pPr lvl="1" eaLnBrk="1" hangingPunct="1"/>
            <a:r>
              <a:rPr lang="en-US" sz="2400" dirty="0"/>
              <a:t>Algorithm then data structure</a:t>
            </a:r>
          </a:p>
          <a:p>
            <a:pPr lvl="1" eaLnBrk="1" hangingPunct="1"/>
            <a:r>
              <a:rPr lang="en-US" sz="2400" dirty="0"/>
              <a:t>Program is separated to many procedures (functions)</a:t>
            </a:r>
          </a:p>
          <a:p>
            <a:pPr lvl="1" eaLnBrk="1" hangingPunct="1"/>
            <a:r>
              <a:rPr lang="en-US" sz="2400" dirty="0"/>
              <a:t>Good for small problems</a:t>
            </a:r>
          </a:p>
          <a:p>
            <a:pPr eaLnBrk="1" hangingPunct="1"/>
            <a:r>
              <a:rPr lang="en-US" sz="2800" dirty="0">
                <a:solidFill>
                  <a:srgbClr val="008000"/>
                </a:solidFill>
              </a:rPr>
              <a:t>OOP</a:t>
            </a:r>
          </a:p>
          <a:p>
            <a:pPr lvl="1" eaLnBrk="1" hangingPunct="1"/>
            <a:r>
              <a:rPr lang="en-US" sz="2400" dirty="0"/>
              <a:t>Data structure (class) then algorithm</a:t>
            </a:r>
          </a:p>
          <a:p>
            <a:pPr lvl="1" eaLnBrk="1" hangingPunct="1"/>
            <a:r>
              <a:rPr lang="en-US" sz="2400" dirty="0"/>
              <a:t>Program is broken down to many classes. Each class has data and methods</a:t>
            </a:r>
          </a:p>
          <a:p>
            <a:pPr lvl="1" eaLnBrk="1" hangingPunct="1"/>
            <a:r>
              <a:rPr lang="en-US" sz="2400" dirty="0"/>
              <a:t>Good for large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76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57DDC0-CD38-45A6-AD29-C047A71AFDE5}" type="slidenum">
              <a:rPr lang="en-US" smtClean="0"/>
              <a:pPr>
                <a:defRPr/>
              </a:pPr>
              <a:t>22</a:t>
            </a:fld>
            <a:endParaRPr lang="th-TH" dirty="0"/>
          </a:p>
        </p:txBody>
      </p:sp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OOP vs. Structured Programming</a:t>
            </a:r>
          </a:p>
        </p:txBody>
      </p:sp>
      <p:sp>
        <p:nvSpPr>
          <p:cNvPr id="10244" name="AutoShape 5"/>
          <p:cNvSpPr>
            <a:spLocks noChangeArrowheads="1"/>
          </p:cNvSpPr>
          <p:nvPr/>
        </p:nvSpPr>
        <p:spPr bwMode="auto">
          <a:xfrm>
            <a:off x="1979613" y="1989138"/>
            <a:ext cx="2232025" cy="3455987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mbria" pitchFamily="18" charset="0"/>
              </a:rPr>
              <a:t>Global Data</a:t>
            </a:r>
          </a:p>
        </p:txBody>
      </p:sp>
      <p:sp>
        <p:nvSpPr>
          <p:cNvPr id="10245" name="Line 6"/>
          <p:cNvSpPr>
            <a:spLocks noChangeShapeType="1"/>
          </p:cNvSpPr>
          <p:nvPr/>
        </p:nvSpPr>
        <p:spPr bwMode="auto">
          <a:xfrm>
            <a:off x="971550" y="2709863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6" name="Line 7"/>
          <p:cNvSpPr>
            <a:spLocks noChangeShapeType="1"/>
          </p:cNvSpPr>
          <p:nvPr/>
        </p:nvSpPr>
        <p:spPr bwMode="auto">
          <a:xfrm>
            <a:off x="971550" y="3286125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7" name="Line 8"/>
          <p:cNvSpPr>
            <a:spLocks noChangeShapeType="1"/>
          </p:cNvSpPr>
          <p:nvPr/>
        </p:nvSpPr>
        <p:spPr bwMode="auto">
          <a:xfrm>
            <a:off x="971550" y="4078288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8" name="Line 10"/>
          <p:cNvSpPr>
            <a:spLocks noChangeShapeType="1"/>
          </p:cNvSpPr>
          <p:nvPr/>
        </p:nvSpPr>
        <p:spPr bwMode="auto">
          <a:xfrm>
            <a:off x="971550" y="4870450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9" name="Text Box 12"/>
          <p:cNvSpPr txBox="1">
            <a:spLocks noChangeArrowheads="1"/>
          </p:cNvSpPr>
          <p:nvPr/>
        </p:nvSpPr>
        <p:spPr bwMode="auto">
          <a:xfrm>
            <a:off x="466725" y="3573463"/>
            <a:ext cx="151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procedure</a:t>
            </a:r>
          </a:p>
        </p:txBody>
      </p:sp>
      <p:sp>
        <p:nvSpPr>
          <p:cNvPr id="10250" name="Text Box 14"/>
          <p:cNvSpPr txBox="1">
            <a:spLocks noChangeArrowheads="1"/>
          </p:cNvSpPr>
          <p:nvPr/>
        </p:nvSpPr>
        <p:spPr bwMode="auto">
          <a:xfrm>
            <a:off x="468313" y="2133600"/>
            <a:ext cx="1512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procedure</a:t>
            </a:r>
          </a:p>
        </p:txBody>
      </p:sp>
      <p:sp>
        <p:nvSpPr>
          <p:cNvPr id="10251" name="Text Box 15"/>
          <p:cNvSpPr txBox="1">
            <a:spLocks noChangeArrowheads="1"/>
          </p:cNvSpPr>
          <p:nvPr/>
        </p:nvSpPr>
        <p:spPr bwMode="auto">
          <a:xfrm>
            <a:off x="466725" y="2781300"/>
            <a:ext cx="151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procedure</a:t>
            </a:r>
          </a:p>
        </p:txBody>
      </p:sp>
      <p:sp>
        <p:nvSpPr>
          <p:cNvPr id="10252" name="Text Box 16"/>
          <p:cNvSpPr txBox="1">
            <a:spLocks noChangeArrowheads="1"/>
          </p:cNvSpPr>
          <p:nvPr/>
        </p:nvSpPr>
        <p:spPr bwMode="auto">
          <a:xfrm>
            <a:off x="468313" y="4365625"/>
            <a:ext cx="1512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procedure</a:t>
            </a:r>
          </a:p>
        </p:txBody>
      </p:sp>
      <p:sp>
        <p:nvSpPr>
          <p:cNvPr id="10253" name="AutoShape 17"/>
          <p:cNvSpPr>
            <a:spLocks noChangeArrowheads="1"/>
          </p:cNvSpPr>
          <p:nvPr/>
        </p:nvSpPr>
        <p:spPr bwMode="auto">
          <a:xfrm>
            <a:off x="6372225" y="1919288"/>
            <a:ext cx="2087563" cy="15113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mbria" pitchFamily="18" charset="0"/>
              </a:rPr>
              <a:t>Object Data</a:t>
            </a:r>
          </a:p>
        </p:txBody>
      </p:sp>
      <p:sp>
        <p:nvSpPr>
          <p:cNvPr id="10254" name="Line 19"/>
          <p:cNvSpPr>
            <a:spLocks noChangeShapeType="1"/>
          </p:cNvSpPr>
          <p:nvPr/>
        </p:nvSpPr>
        <p:spPr bwMode="auto">
          <a:xfrm>
            <a:off x="6372225" y="2351088"/>
            <a:ext cx="2087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5" name="Text Box 20"/>
          <p:cNvSpPr txBox="1">
            <a:spLocks noChangeArrowheads="1"/>
          </p:cNvSpPr>
          <p:nvPr/>
        </p:nvSpPr>
        <p:spPr bwMode="auto">
          <a:xfrm>
            <a:off x="5003800" y="2135188"/>
            <a:ext cx="151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method</a:t>
            </a:r>
          </a:p>
        </p:txBody>
      </p:sp>
      <p:sp>
        <p:nvSpPr>
          <p:cNvPr id="10256" name="Line 21"/>
          <p:cNvSpPr>
            <a:spLocks noChangeShapeType="1"/>
          </p:cNvSpPr>
          <p:nvPr/>
        </p:nvSpPr>
        <p:spPr bwMode="auto">
          <a:xfrm>
            <a:off x="5364163" y="2638425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57" name="Text Box 22"/>
          <p:cNvSpPr txBox="1">
            <a:spLocks noChangeArrowheads="1"/>
          </p:cNvSpPr>
          <p:nvPr/>
        </p:nvSpPr>
        <p:spPr bwMode="auto">
          <a:xfrm>
            <a:off x="5003800" y="2638425"/>
            <a:ext cx="151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method</a:t>
            </a:r>
          </a:p>
        </p:txBody>
      </p:sp>
      <p:sp>
        <p:nvSpPr>
          <p:cNvPr id="10258" name="Line 23"/>
          <p:cNvSpPr>
            <a:spLocks noChangeShapeType="1"/>
          </p:cNvSpPr>
          <p:nvPr/>
        </p:nvSpPr>
        <p:spPr bwMode="auto">
          <a:xfrm>
            <a:off x="5364163" y="3141663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59" name="AutoShape 24"/>
          <p:cNvSpPr>
            <a:spLocks noChangeArrowheads="1"/>
          </p:cNvSpPr>
          <p:nvPr/>
        </p:nvSpPr>
        <p:spPr bwMode="auto">
          <a:xfrm>
            <a:off x="6372225" y="3862388"/>
            <a:ext cx="2087563" cy="1511300"/>
          </a:xfrm>
          <a:prstGeom prst="roundRect">
            <a:avLst>
              <a:gd name="adj" fmla="val 16667"/>
            </a:avLst>
          </a:prstGeom>
          <a:solidFill>
            <a:srgbClr val="CC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mbria" pitchFamily="18" charset="0"/>
              </a:rPr>
              <a:t>Object Data</a:t>
            </a:r>
          </a:p>
        </p:txBody>
      </p:sp>
      <p:sp>
        <p:nvSpPr>
          <p:cNvPr id="10260" name="Line 25"/>
          <p:cNvSpPr>
            <a:spLocks noChangeShapeType="1"/>
          </p:cNvSpPr>
          <p:nvPr/>
        </p:nvSpPr>
        <p:spPr bwMode="auto">
          <a:xfrm>
            <a:off x="6372225" y="4294188"/>
            <a:ext cx="2087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1" name="Text Box 26"/>
          <p:cNvSpPr txBox="1">
            <a:spLocks noChangeArrowheads="1"/>
          </p:cNvSpPr>
          <p:nvPr/>
        </p:nvSpPr>
        <p:spPr bwMode="auto">
          <a:xfrm>
            <a:off x="5003800" y="4078288"/>
            <a:ext cx="151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method</a:t>
            </a:r>
          </a:p>
        </p:txBody>
      </p:sp>
      <p:sp>
        <p:nvSpPr>
          <p:cNvPr id="10262" name="Line 27"/>
          <p:cNvSpPr>
            <a:spLocks noChangeShapeType="1"/>
          </p:cNvSpPr>
          <p:nvPr/>
        </p:nvSpPr>
        <p:spPr bwMode="auto">
          <a:xfrm>
            <a:off x="5364163" y="4581525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63" name="Text Box 28"/>
          <p:cNvSpPr txBox="1">
            <a:spLocks noChangeArrowheads="1"/>
          </p:cNvSpPr>
          <p:nvPr/>
        </p:nvSpPr>
        <p:spPr bwMode="auto">
          <a:xfrm>
            <a:off x="5003800" y="4581525"/>
            <a:ext cx="151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>
                <a:latin typeface="Cambria" pitchFamily="18" charset="0"/>
              </a:rPr>
              <a:t>method</a:t>
            </a:r>
          </a:p>
        </p:txBody>
      </p:sp>
      <p:sp>
        <p:nvSpPr>
          <p:cNvPr id="10264" name="Line 29"/>
          <p:cNvSpPr>
            <a:spLocks noChangeShapeType="1"/>
          </p:cNvSpPr>
          <p:nvPr/>
        </p:nvSpPr>
        <p:spPr bwMode="auto">
          <a:xfrm>
            <a:off x="5364163" y="5084763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65" name="Text Box 30"/>
          <p:cNvSpPr txBox="1">
            <a:spLocks noChangeArrowheads="1"/>
          </p:cNvSpPr>
          <p:nvPr/>
        </p:nvSpPr>
        <p:spPr bwMode="auto">
          <a:xfrm>
            <a:off x="1979613" y="5805488"/>
            <a:ext cx="22320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Cambria" pitchFamily="18" charset="0"/>
              </a:rPr>
              <a:t>Structured</a:t>
            </a:r>
          </a:p>
        </p:txBody>
      </p:sp>
      <p:sp>
        <p:nvSpPr>
          <p:cNvPr id="10266" name="Text Box 31"/>
          <p:cNvSpPr txBox="1">
            <a:spLocks noChangeArrowheads="1"/>
          </p:cNvSpPr>
          <p:nvPr/>
        </p:nvSpPr>
        <p:spPr bwMode="auto">
          <a:xfrm>
            <a:off x="5940425" y="5734050"/>
            <a:ext cx="2232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Cambria" pitchFamily="18" charset="0"/>
              </a:rPr>
              <a:t>OOP</a:t>
            </a:r>
          </a:p>
        </p:txBody>
      </p:sp>
      <p:sp>
        <p:nvSpPr>
          <p:cNvPr id="10267" name="Rectangle 32"/>
          <p:cNvSpPr>
            <a:spLocks noChangeArrowheads="1"/>
          </p:cNvSpPr>
          <p:nvPr/>
        </p:nvSpPr>
        <p:spPr bwMode="auto">
          <a:xfrm>
            <a:off x="4932363" y="1557338"/>
            <a:ext cx="3960812" cy="4967287"/>
          </a:xfrm>
          <a:prstGeom prst="rect">
            <a:avLst/>
          </a:prstGeom>
          <a:noFill/>
          <a:ln w="9525">
            <a:solidFill>
              <a:srgbClr val="0099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Rectangle 33"/>
          <p:cNvSpPr>
            <a:spLocks noChangeArrowheads="1"/>
          </p:cNvSpPr>
          <p:nvPr/>
        </p:nvSpPr>
        <p:spPr bwMode="auto">
          <a:xfrm>
            <a:off x="323850" y="1557338"/>
            <a:ext cx="4105275" cy="4967287"/>
          </a:xfrm>
          <a:prstGeom prst="rect">
            <a:avLst/>
          </a:prstGeom>
          <a:noFill/>
          <a:ln w="9525">
            <a:solidFill>
              <a:srgbClr val="FF33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102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 of OOP </a:t>
            </a:r>
            <a:r>
              <a:rPr lang="en-US" sz="3600" dirty="0"/>
              <a:t>&lt;Class &amp; Objects&gt;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51225"/>
            <a:ext cx="5486400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360488"/>
            <a:ext cx="1600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>
            <a:stCxn id="34820" idx="2"/>
          </p:cNvCxnSpPr>
          <p:nvPr/>
        </p:nvCxnSpPr>
        <p:spPr>
          <a:xfrm flipH="1">
            <a:off x="1066800" y="2960688"/>
            <a:ext cx="1828800" cy="849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34820" idx="2"/>
          </p:cNvCxnSpPr>
          <p:nvPr/>
        </p:nvCxnSpPr>
        <p:spPr>
          <a:xfrm flipH="1">
            <a:off x="1752600" y="2960688"/>
            <a:ext cx="1143000" cy="849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4820" idx="2"/>
          </p:cNvCxnSpPr>
          <p:nvPr/>
        </p:nvCxnSpPr>
        <p:spPr>
          <a:xfrm flipH="1">
            <a:off x="2327275" y="2960688"/>
            <a:ext cx="568325" cy="849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4820" idx="2"/>
          </p:cNvCxnSpPr>
          <p:nvPr/>
        </p:nvCxnSpPr>
        <p:spPr>
          <a:xfrm flipH="1">
            <a:off x="2857500" y="2960688"/>
            <a:ext cx="38100" cy="849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34820" idx="2"/>
          </p:cNvCxnSpPr>
          <p:nvPr/>
        </p:nvCxnSpPr>
        <p:spPr>
          <a:xfrm>
            <a:off x="2895600" y="2960688"/>
            <a:ext cx="609600" cy="925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4820" idx="2"/>
            <a:endCxn id="35" idx="0"/>
          </p:cNvCxnSpPr>
          <p:nvPr/>
        </p:nvCxnSpPr>
        <p:spPr>
          <a:xfrm>
            <a:off x="2895600" y="2960688"/>
            <a:ext cx="1355725" cy="8842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34820" idx="2"/>
            <a:endCxn id="36" idx="0"/>
          </p:cNvCxnSpPr>
          <p:nvPr/>
        </p:nvCxnSpPr>
        <p:spPr>
          <a:xfrm>
            <a:off x="2895600" y="2960688"/>
            <a:ext cx="2203450" cy="8969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76238" y="3778250"/>
            <a:ext cx="690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Emily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1204913" y="3810000"/>
            <a:ext cx="606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Judy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1828800" y="3827463"/>
            <a:ext cx="709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Heike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2552700" y="3825875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Mike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3243263" y="3824288"/>
            <a:ext cx="606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Lucy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3930650" y="3844925"/>
            <a:ext cx="641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Mica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724400" y="3857625"/>
            <a:ext cx="749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Sandy</a:t>
            </a:r>
          </a:p>
        </p:txBody>
      </p:sp>
      <p:sp>
        <p:nvSpPr>
          <p:cNvPr id="2048" name="Rounded Rectangular Callout 2047"/>
          <p:cNvSpPr/>
          <p:nvPr/>
        </p:nvSpPr>
        <p:spPr>
          <a:xfrm>
            <a:off x="5295900" y="1295400"/>
            <a:ext cx="3124200" cy="2362200"/>
          </a:xfrm>
          <a:prstGeom prst="wedgeRoundRectCallout">
            <a:avLst>
              <a:gd name="adj1" fmla="val -113046"/>
              <a:gd name="adj2" fmla="val -2393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Class: </a:t>
            </a:r>
            <a:r>
              <a:rPr lang="en-US" sz="1600" b="1" dirty="0" err="1">
                <a:solidFill>
                  <a:srgbClr val="0000FF"/>
                </a:solidFill>
              </a:rPr>
              <a:t>Sim</a:t>
            </a:r>
            <a:endParaRPr lang="en-US" sz="1600" b="1" dirty="0">
              <a:solidFill>
                <a:srgbClr val="0000FF"/>
              </a:solidFill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Attributes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dirty="0"/>
              <a:t>Name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dirty="0"/>
              <a:t>Gender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dirty="0"/>
              <a:t>Hair color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sz="1600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Behavior:  </a:t>
            </a:r>
            <a:r>
              <a:rPr lang="en-US" sz="1600" dirty="0"/>
              <a:t>Eat, Dance, Sleep</a:t>
            </a:r>
          </a:p>
        </p:txBody>
      </p:sp>
      <p:sp>
        <p:nvSpPr>
          <p:cNvPr id="40" name="Rounded Rectangular Callout 39"/>
          <p:cNvSpPr/>
          <p:nvPr/>
        </p:nvSpPr>
        <p:spPr>
          <a:xfrm>
            <a:off x="6324600" y="3927475"/>
            <a:ext cx="2590800" cy="2362200"/>
          </a:xfrm>
          <a:prstGeom prst="wedgeRoundRectCallout">
            <a:avLst>
              <a:gd name="adj1" fmla="val -84067"/>
              <a:gd name="adj2" fmla="val -4270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Object: </a:t>
            </a:r>
            <a:r>
              <a:rPr lang="en-US" sz="1600" b="1" dirty="0">
                <a:solidFill>
                  <a:srgbClr val="0000FF"/>
                </a:solidFill>
              </a:rPr>
              <a:t>Sandy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b="1" dirty="0"/>
              <a:t>Name: </a:t>
            </a:r>
            <a:r>
              <a:rPr lang="en-US" sz="1600" dirty="0"/>
              <a:t>Sandy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b="1" dirty="0"/>
              <a:t>Gender: </a:t>
            </a:r>
            <a:r>
              <a:rPr lang="en-US" sz="1600" dirty="0"/>
              <a:t>Female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b="1" dirty="0"/>
              <a:t>Hair color: </a:t>
            </a:r>
            <a:r>
              <a:rPr lang="en-US" sz="1600" dirty="0"/>
              <a:t>Red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b="1" dirty="0"/>
              <a:t>Ethic: </a:t>
            </a:r>
            <a:r>
              <a:rPr lang="en-US" sz="1600" dirty="0"/>
              <a:t>Latin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b="1" dirty="0"/>
              <a:t>Weight: </a:t>
            </a:r>
            <a:r>
              <a:rPr lang="en-US" sz="1600" dirty="0"/>
              <a:t>45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b="1" dirty="0"/>
              <a:t>Height: </a:t>
            </a:r>
            <a:r>
              <a:rPr lang="en-US" sz="1600" dirty="0"/>
              <a:t>160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1600" b="1" dirty="0"/>
              <a:t>Personality: </a:t>
            </a:r>
            <a:r>
              <a:rPr lang="en-US" sz="1600" dirty="0"/>
              <a:t>Nice</a:t>
            </a:r>
          </a:p>
        </p:txBody>
      </p:sp>
      <p:sp>
        <p:nvSpPr>
          <p:cNvPr id="20501" name="Rectangle 2048"/>
          <p:cNvSpPr>
            <a:spLocks noChangeArrowheads="1"/>
          </p:cNvSpPr>
          <p:nvPr/>
        </p:nvSpPr>
        <p:spPr bwMode="auto">
          <a:xfrm>
            <a:off x="6858000" y="1771650"/>
            <a:ext cx="20574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1" hangingPunct="1">
              <a:buFontTx/>
              <a:buChar char="-"/>
              <a:defRPr/>
            </a:pPr>
            <a:r>
              <a:rPr lang="en-US" sz="1600" dirty="0">
                <a:latin typeface="+mn-lt"/>
                <a:cs typeface="Arial" charset="0"/>
              </a:rPr>
              <a:t>Ethic</a:t>
            </a:r>
          </a:p>
          <a:p>
            <a:pPr marL="285750" indent="-285750" eaLnBrk="1" hangingPunct="1">
              <a:buFontTx/>
              <a:buChar char="-"/>
              <a:defRPr/>
            </a:pPr>
            <a:r>
              <a:rPr lang="en-US" sz="1600" dirty="0">
                <a:latin typeface="+mn-lt"/>
                <a:cs typeface="Arial" charset="0"/>
              </a:rPr>
              <a:t>Weight</a:t>
            </a:r>
          </a:p>
          <a:p>
            <a:pPr marL="285750" indent="-285750" eaLnBrk="1" hangingPunct="1">
              <a:buFontTx/>
              <a:buChar char="-"/>
              <a:defRPr/>
            </a:pPr>
            <a:r>
              <a:rPr lang="en-US" sz="1600" dirty="0">
                <a:latin typeface="+mn-lt"/>
                <a:cs typeface="Arial" charset="0"/>
              </a:rPr>
              <a:t>Height</a:t>
            </a:r>
          </a:p>
          <a:p>
            <a:pPr marL="285750" indent="-285750" eaLnBrk="1" hangingPunct="1">
              <a:buFontTx/>
              <a:buChar char="-"/>
              <a:defRPr/>
            </a:pPr>
            <a:r>
              <a:rPr lang="en-US" sz="1600" dirty="0">
                <a:latin typeface="+mn-lt"/>
                <a:cs typeface="Arial" charset="0"/>
              </a:rPr>
              <a:t>Personality</a:t>
            </a:r>
          </a:p>
        </p:txBody>
      </p:sp>
      <p:sp>
        <p:nvSpPr>
          <p:cNvPr id="3483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33BEF7-9B1C-46A0-B2C7-88A61CF8DD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06833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  <p:bldP spid="32" grpId="0"/>
      <p:bldP spid="33" grpId="0"/>
      <p:bldP spid="34" grpId="0"/>
      <p:bldP spid="35" grpId="0"/>
      <p:bldP spid="36" grpId="0"/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Class’s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CC"/>
                </a:solidFill>
              </a:rPr>
              <a:t>Properties (Variables)</a:t>
            </a:r>
          </a:p>
          <a:p>
            <a:r>
              <a:rPr lang="en-US" dirty="0">
                <a:solidFill>
                  <a:srgbClr val="FF0000"/>
                </a:solidFill>
              </a:rPr>
              <a:t>Behaviors (Methods)</a:t>
            </a:r>
          </a:p>
          <a:p>
            <a:endParaRPr lang="en-US" dirty="0"/>
          </a:p>
          <a:p>
            <a:r>
              <a:rPr lang="en-US" dirty="0"/>
              <a:t>Ex: </a:t>
            </a:r>
            <a:r>
              <a:rPr lang="en-US" i="1" dirty="0"/>
              <a:t>a class of student</a:t>
            </a:r>
          </a:p>
          <a:p>
            <a:r>
              <a:rPr lang="en-US" dirty="0"/>
              <a:t>Properties: </a:t>
            </a:r>
            <a:r>
              <a:rPr lang="en-US" dirty="0">
                <a:solidFill>
                  <a:srgbClr val="0000CC"/>
                </a:solidFill>
              </a:rPr>
              <a:t>ID, name</a:t>
            </a:r>
          </a:p>
          <a:p>
            <a:r>
              <a:rPr lang="en-US" dirty="0"/>
              <a:t>Behaviors: </a:t>
            </a:r>
            <a:r>
              <a:rPr lang="en-US" dirty="0">
                <a:solidFill>
                  <a:srgbClr val="FF0000"/>
                </a:solidFill>
              </a:rPr>
              <a:t>study</a:t>
            </a:r>
          </a:p>
        </p:txBody>
      </p:sp>
      <p:pic>
        <p:nvPicPr>
          <p:cNvPr id="6" name="Picture 5" descr="menina-estudante-conten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48064" y="3140968"/>
            <a:ext cx="1656184" cy="2388727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pPr>
              <a:defRPr/>
            </a:pPr>
            <a:fld id="{262E5BD3-6410-4240-A091-4A4449560043}" type="slidenum">
              <a:rPr lang="en-US" smtClean="0"/>
              <a:pPr>
                <a:defRPr/>
              </a:pPr>
              <a:t>24</a:t>
            </a:fld>
            <a:endParaRPr lang="th-TH" dirty="0"/>
          </a:p>
        </p:txBody>
      </p:sp>
      <p:sp>
        <p:nvSpPr>
          <p:cNvPr id="8" name="Flowchart: Sequential Access Storage 7"/>
          <p:cNvSpPr/>
          <p:nvPr/>
        </p:nvSpPr>
        <p:spPr>
          <a:xfrm flipH="1">
            <a:off x="6588224" y="2204864"/>
            <a:ext cx="1512168" cy="1152128"/>
          </a:xfrm>
          <a:prstGeom prst="flowChartMagneticTap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 have ID and name</a:t>
            </a:r>
          </a:p>
        </p:txBody>
      </p:sp>
      <p:sp>
        <p:nvSpPr>
          <p:cNvPr id="9" name="Flowchart: Sequential Access Storage 8"/>
          <p:cNvSpPr/>
          <p:nvPr/>
        </p:nvSpPr>
        <p:spPr>
          <a:xfrm flipH="1">
            <a:off x="6732240" y="3645024"/>
            <a:ext cx="1512168" cy="1008112"/>
          </a:xfrm>
          <a:prstGeom prst="flowChartMagneticTap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 can study</a:t>
            </a:r>
          </a:p>
        </p:txBody>
      </p:sp>
    </p:spTree>
    <p:extLst>
      <p:ext uri="{BB962C8B-B14F-4D97-AF65-F5344CB8AC3E}">
        <p14:creationId xmlns:p14="http://schemas.microsoft.com/office/powerpoint/2010/main" val="1834548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Ex: </a:t>
            </a:r>
            <a:r>
              <a:rPr lang="en-US" i="1" dirty="0"/>
              <a:t>a class of student</a:t>
            </a:r>
          </a:p>
          <a:p>
            <a:r>
              <a:rPr lang="en-US" dirty="0"/>
              <a:t>Properties: </a:t>
            </a:r>
            <a:r>
              <a:rPr lang="en-US" dirty="0">
                <a:solidFill>
                  <a:srgbClr val="0000CC"/>
                </a:solidFill>
              </a:rPr>
              <a:t>ID, name</a:t>
            </a:r>
          </a:p>
          <a:p>
            <a:r>
              <a:rPr lang="en-US" dirty="0"/>
              <a:t>Behaviors: </a:t>
            </a:r>
            <a:r>
              <a:rPr lang="en-US" dirty="0">
                <a:solidFill>
                  <a:srgbClr val="FF0000"/>
                </a:solidFill>
              </a:rPr>
              <a:t>study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5" name="Picture 4" descr="menina-estudante-conten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0152" y="1412776"/>
            <a:ext cx="1406556" cy="2028687"/>
          </a:xfrm>
          <a:prstGeom prst="rect">
            <a:avLst/>
          </a:prstGeom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3717032"/>
            <a:ext cx="3672408" cy="219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3789040"/>
            <a:ext cx="3732895" cy="2592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43747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ontent Placeholder 2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solidFill>
                  <a:srgbClr val="0000FF"/>
                </a:solidFill>
              </a:rPr>
              <a:t> modifier   </a:t>
            </a:r>
            <a:r>
              <a:rPr lang="en-US" altLang="en-US"/>
              <a:t>class   CLASS_NAME {</a:t>
            </a:r>
          </a:p>
          <a:p>
            <a:pPr>
              <a:buFontTx/>
              <a:buNone/>
            </a:pPr>
            <a:r>
              <a:rPr lang="en-US" altLang="en-US"/>
              <a:t>		</a:t>
            </a:r>
            <a:r>
              <a:rPr lang="en-US" altLang="en-US">
                <a:solidFill>
                  <a:srgbClr val="0000FF"/>
                </a:solidFill>
              </a:rPr>
              <a:t>modifier   </a:t>
            </a:r>
            <a:r>
              <a:rPr lang="en-US" altLang="en-US"/>
              <a:t>TYPE   variable;</a:t>
            </a:r>
          </a:p>
          <a:p>
            <a:pPr>
              <a:buFontTx/>
              <a:buNone/>
            </a:pPr>
            <a:r>
              <a:rPr lang="en-US" altLang="en-US"/>
              <a:t> 		</a:t>
            </a:r>
            <a:r>
              <a:rPr lang="en-US" altLang="en-US">
                <a:solidFill>
                  <a:srgbClr val="0000FF"/>
                </a:solidFill>
              </a:rPr>
              <a:t>modifier   </a:t>
            </a:r>
            <a:r>
              <a:rPr lang="en-US" altLang="en-US"/>
              <a:t>method( ){ </a:t>
            </a:r>
          </a:p>
          <a:p>
            <a:pPr>
              <a:buFontTx/>
              <a:buNone/>
            </a:pPr>
            <a:r>
              <a:rPr lang="en-US" altLang="en-US"/>
              <a:t>          		statement;</a:t>
            </a:r>
          </a:p>
          <a:p>
            <a:pPr>
              <a:buFontTx/>
              <a:buNone/>
            </a:pPr>
            <a:r>
              <a:rPr lang="en-US" altLang="en-US"/>
              <a:t>		 }</a:t>
            </a:r>
          </a:p>
          <a:p>
            <a:pPr>
              <a:buFontTx/>
              <a:buNone/>
            </a:pPr>
            <a:r>
              <a:rPr lang="en-US" altLang="en-US"/>
              <a:t>	}</a:t>
            </a:r>
          </a:p>
          <a:p>
            <a:endParaRPr lang="en-US" altLang="en-US"/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6AF406-8033-427E-8571-A048551E22B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Declaration</a:t>
            </a:r>
          </a:p>
        </p:txBody>
      </p:sp>
      <p:grpSp>
        <p:nvGrpSpPr>
          <p:cNvPr id="41989" name="Group 27"/>
          <p:cNvGrpSpPr>
            <a:grpSpLocks/>
          </p:cNvGrpSpPr>
          <p:nvPr/>
        </p:nvGrpSpPr>
        <p:grpSpPr bwMode="auto">
          <a:xfrm>
            <a:off x="6659563" y="4868863"/>
            <a:ext cx="1558925" cy="1457325"/>
            <a:chOff x="4233" y="1434"/>
            <a:chExt cx="982" cy="918"/>
          </a:xfrm>
        </p:grpSpPr>
        <p:sp>
          <p:nvSpPr>
            <p:cNvPr id="41992" name="Freeform 9"/>
            <p:cNvSpPr>
              <a:spLocks/>
            </p:cNvSpPr>
            <p:nvPr/>
          </p:nvSpPr>
          <p:spPr bwMode="auto">
            <a:xfrm>
              <a:off x="4479" y="2278"/>
              <a:ext cx="736" cy="74"/>
            </a:xfrm>
            <a:custGeom>
              <a:avLst/>
              <a:gdLst>
                <a:gd name="T0" fmla="*/ 736 w 736"/>
                <a:gd name="T1" fmla="*/ 36 h 74"/>
                <a:gd name="T2" fmla="*/ 736 w 736"/>
                <a:gd name="T3" fmla="*/ 36 h 74"/>
                <a:gd name="T4" fmla="*/ 734 w 736"/>
                <a:gd name="T5" fmla="*/ 32 h 74"/>
                <a:gd name="T6" fmla="*/ 728 w 736"/>
                <a:gd name="T7" fmla="*/ 30 h 74"/>
                <a:gd name="T8" fmla="*/ 706 w 736"/>
                <a:gd name="T9" fmla="*/ 22 h 74"/>
                <a:gd name="T10" fmla="*/ 672 w 736"/>
                <a:gd name="T11" fmla="*/ 16 h 74"/>
                <a:gd name="T12" fmla="*/ 628 w 736"/>
                <a:gd name="T13" fmla="*/ 10 h 74"/>
                <a:gd name="T14" fmla="*/ 574 w 736"/>
                <a:gd name="T15" fmla="*/ 6 h 74"/>
                <a:gd name="T16" fmla="*/ 510 w 736"/>
                <a:gd name="T17" fmla="*/ 4 h 74"/>
                <a:gd name="T18" fmla="*/ 442 w 736"/>
                <a:gd name="T19" fmla="*/ 2 h 74"/>
                <a:gd name="T20" fmla="*/ 368 w 736"/>
                <a:gd name="T21" fmla="*/ 0 h 74"/>
                <a:gd name="T22" fmla="*/ 368 w 736"/>
                <a:gd name="T23" fmla="*/ 0 h 74"/>
                <a:gd name="T24" fmla="*/ 294 w 736"/>
                <a:gd name="T25" fmla="*/ 2 h 74"/>
                <a:gd name="T26" fmla="*/ 224 w 736"/>
                <a:gd name="T27" fmla="*/ 4 h 74"/>
                <a:gd name="T28" fmla="*/ 162 w 736"/>
                <a:gd name="T29" fmla="*/ 6 h 74"/>
                <a:gd name="T30" fmla="*/ 108 w 736"/>
                <a:gd name="T31" fmla="*/ 10 h 74"/>
                <a:gd name="T32" fmla="*/ 64 w 736"/>
                <a:gd name="T33" fmla="*/ 16 h 74"/>
                <a:gd name="T34" fmla="*/ 30 w 736"/>
                <a:gd name="T35" fmla="*/ 22 h 74"/>
                <a:gd name="T36" fmla="*/ 8 w 736"/>
                <a:gd name="T37" fmla="*/ 30 h 74"/>
                <a:gd name="T38" fmla="*/ 2 w 736"/>
                <a:gd name="T39" fmla="*/ 32 h 74"/>
                <a:gd name="T40" fmla="*/ 0 w 736"/>
                <a:gd name="T41" fmla="*/ 36 h 74"/>
                <a:gd name="T42" fmla="*/ 0 w 736"/>
                <a:gd name="T43" fmla="*/ 36 h 74"/>
                <a:gd name="T44" fmla="*/ 2 w 736"/>
                <a:gd name="T45" fmla="*/ 40 h 74"/>
                <a:gd name="T46" fmla="*/ 8 w 736"/>
                <a:gd name="T47" fmla="*/ 44 h 74"/>
                <a:gd name="T48" fmla="*/ 30 w 736"/>
                <a:gd name="T49" fmla="*/ 50 h 74"/>
                <a:gd name="T50" fmla="*/ 64 w 736"/>
                <a:gd name="T51" fmla="*/ 58 h 74"/>
                <a:gd name="T52" fmla="*/ 108 w 736"/>
                <a:gd name="T53" fmla="*/ 62 h 74"/>
                <a:gd name="T54" fmla="*/ 162 w 736"/>
                <a:gd name="T55" fmla="*/ 66 h 74"/>
                <a:gd name="T56" fmla="*/ 224 w 736"/>
                <a:gd name="T57" fmla="*/ 70 h 74"/>
                <a:gd name="T58" fmla="*/ 294 w 736"/>
                <a:gd name="T59" fmla="*/ 72 h 74"/>
                <a:gd name="T60" fmla="*/ 368 w 736"/>
                <a:gd name="T61" fmla="*/ 74 h 74"/>
                <a:gd name="T62" fmla="*/ 368 w 736"/>
                <a:gd name="T63" fmla="*/ 74 h 74"/>
                <a:gd name="T64" fmla="*/ 442 w 736"/>
                <a:gd name="T65" fmla="*/ 72 h 74"/>
                <a:gd name="T66" fmla="*/ 510 w 736"/>
                <a:gd name="T67" fmla="*/ 70 h 74"/>
                <a:gd name="T68" fmla="*/ 574 w 736"/>
                <a:gd name="T69" fmla="*/ 66 h 74"/>
                <a:gd name="T70" fmla="*/ 628 w 736"/>
                <a:gd name="T71" fmla="*/ 62 h 74"/>
                <a:gd name="T72" fmla="*/ 672 w 736"/>
                <a:gd name="T73" fmla="*/ 58 h 74"/>
                <a:gd name="T74" fmla="*/ 706 w 736"/>
                <a:gd name="T75" fmla="*/ 50 h 74"/>
                <a:gd name="T76" fmla="*/ 728 w 736"/>
                <a:gd name="T77" fmla="*/ 44 h 74"/>
                <a:gd name="T78" fmla="*/ 734 w 736"/>
                <a:gd name="T79" fmla="*/ 40 h 74"/>
                <a:gd name="T80" fmla="*/ 736 w 736"/>
                <a:gd name="T81" fmla="*/ 36 h 74"/>
                <a:gd name="T82" fmla="*/ 736 w 736"/>
                <a:gd name="T83" fmla="*/ 36 h 7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36"/>
                <a:gd name="T127" fmla="*/ 0 h 74"/>
                <a:gd name="T128" fmla="*/ 736 w 736"/>
                <a:gd name="T129" fmla="*/ 74 h 7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36" h="74">
                  <a:moveTo>
                    <a:pt x="736" y="36"/>
                  </a:moveTo>
                  <a:lnTo>
                    <a:pt x="736" y="36"/>
                  </a:lnTo>
                  <a:lnTo>
                    <a:pt x="734" y="32"/>
                  </a:lnTo>
                  <a:lnTo>
                    <a:pt x="728" y="30"/>
                  </a:lnTo>
                  <a:lnTo>
                    <a:pt x="706" y="22"/>
                  </a:lnTo>
                  <a:lnTo>
                    <a:pt x="672" y="16"/>
                  </a:lnTo>
                  <a:lnTo>
                    <a:pt x="628" y="10"/>
                  </a:lnTo>
                  <a:lnTo>
                    <a:pt x="574" y="6"/>
                  </a:lnTo>
                  <a:lnTo>
                    <a:pt x="510" y="4"/>
                  </a:lnTo>
                  <a:lnTo>
                    <a:pt x="442" y="2"/>
                  </a:lnTo>
                  <a:lnTo>
                    <a:pt x="368" y="0"/>
                  </a:lnTo>
                  <a:lnTo>
                    <a:pt x="294" y="2"/>
                  </a:lnTo>
                  <a:lnTo>
                    <a:pt x="224" y="4"/>
                  </a:lnTo>
                  <a:lnTo>
                    <a:pt x="162" y="6"/>
                  </a:lnTo>
                  <a:lnTo>
                    <a:pt x="108" y="10"/>
                  </a:lnTo>
                  <a:lnTo>
                    <a:pt x="64" y="16"/>
                  </a:lnTo>
                  <a:lnTo>
                    <a:pt x="30" y="22"/>
                  </a:lnTo>
                  <a:lnTo>
                    <a:pt x="8" y="30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2" y="40"/>
                  </a:lnTo>
                  <a:lnTo>
                    <a:pt x="8" y="44"/>
                  </a:lnTo>
                  <a:lnTo>
                    <a:pt x="30" y="50"/>
                  </a:lnTo>
                  <a:lnTo>
                    <a:pt x="64" y="58"/>
                  </a:lnTo>
                  <a:lnTo>
                    <a:pt x="108" y="62"/>
                  </a:lnTo>
                  <a:lnTo>
                    <a:pt x="162" y="66"/>
                  </a:lnTo>
                  <a:lnTo>
                    <a:pt x="224" y="70"/>
                  </a:lnTo>
                  <a:lnTo>
                    <a:pt x="294" y="72"/>
                  </a:lnTo>
                  <a:lnTo>
                    <a:pt x="368" y="74"/>
                  </a:lnTo>
                  <a:lnTo>
                    <a:pt x="442" y="72"/>
                  </a:lnTo>
                  <a:lnTo>
                    <a:pt x="510" y="70"/>
                  </a:lnTo>
                  <a:lnTo>
                    <a:pt x="574" y="66"/>
                  </a:lnTo>
                  <a:lnTo>
                    <a:pt x="628" y="62"/>
                  </a:lnTo>
                  <a:lnTo>
                    <a:pt x="672" y="58"/>
                  </a:lnTo>
                  <a:lnTo>
                    <a:pt x="706" y="50"/>
                  </a:lnTo>
                  <a:lnTo>
                    <a:pt x="728" y="44"/>
                  </a:lnTo>
                  <a:lnTo>
                    <a:pt x="734" y="40"/>
                  </a:lnTo>
                  <a:lnTo>
                    <a:pt x="736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3" name="Freeform 10"/>
            <p:cNvSpPr>
              <a:spLocks/>
            </p:cNvSpPr>
            <p:nvPr/>
          </p:nvSpPr>
          <p:spPr bwMode="auto">
            <a:xfrm>
              <a:off x="4563" y="1874"/>
              <a:ext cx="500" cy="300"/>
            </a:xfrm>
            <a:custGeom>
              <a:avLst/>
              <a:gdLst>
                <a:gd name="T0" fmla="*/ 500 w 500"/>
                <a:gd name="T1" fmla="*/ 0 h 300"/>
                <a:gd name="T2" fmla="*/ 500 w 500"/>
                <a:gd name="T3" fmla="*/ 0 h 300"/>
                <a:gd name="T4" fmla="*/ 476 w 500"/>
                <a:gd name="T5" fmla="*/ 20 h 300"/>
                <a:gd name="T6" fmla="*/ 450 w 500"/>
                <a:gd name="T7" fmla="*/ 40 h 300"/>
                <a:gd name="T8" fmla="*/ 422 w 500"/>
                <a:gd name="T9" fmla="*/ 56 h 300"/>
                <a:gd name="T10" fmla="*/ 392 w 500"/>
                <a:gd name="T11" fmla="*/ 72 h 300"/>
                <a:gd name="T12" fmla="*/ 360 w 500"/>
                <a:gd name="T13" fmla="*/ 86 h 300"/>
                <a:gd name="T14" fmla="*/ 326 w 500"/>
                <a:gd name="T15" fmla="*/ 96 h 300"/>
                <a:gd name="T16" fmla="*/ 290 w 500"/>
                <a:gd name="T17" fmla="*/ 106 h 300"/>
                <a:gd name="T18" fmla="*/ 254 w 500"/>
                <a:gd name="T19" fmla="*/ 112 h 300"/>
                <a:gd name="T20" fmla="*/ 254 w 500"/>
                <a:gd name="T21" fmla="*/ 112 h 300"/>
                <a:gd name="T22" fmla="*/ 218 w 500"/>
                <a:gd name="T23" fmla="*/ 116 h 300"/>
                <a:gd name="T24" fmla="*/ 182 w 500"/>
                <a:gd name="T25" fmla="*/ 118 h 300"/>
                <a:gd name="T26" fmla="*/ 148 w 500"/>
                <a:gd name="T27" fmla="*/ 116 h 300"/>
                <a:gd name="T28" fmla="*/ 116 w 500"/>
                <a:gd name="T29" fmla="*/ 110 h 300"/>
                <a:gd name="T30" fmla="*/ 84 w 500"/>
                <a:gd name="T31" fmla="*/ 104 h 300"/>
                <a:gd name="T32" fmla="*/ 54 w 500"/>
                <a:gd name="T33" fmla="*/ 94 h 300"/>
                <a:gd name="T34" fmla="*/ 26 w 500"/>
                <a:gd name="T35" fmla="*/ 82 h 300"/>
                <a:gd name="T36" fmla="*/ 0 w 500"/>
                <a:gd name="T37" fmla="*/ 68 h 300"/>
                <a:gd name="T38" fmla="*/ 48 w 500"/>
                <a:gd name="T39" fmla="*/ 252 h 300"/>
                <a:gd name="T40" fmla="*/ 48 w 500"/>
                <a:gd name="T41" fmla="*/ 252 h 300"/>
                <a:gd name="T42" fmla="*/ 52 w 500"/>
                <a:gd name="T43" fmla="*/ 260 h 300"/>
                <a:gd name="T44" fmla="*/ 56 w 500"/>
                <a:gd name="T45" fmla="*/ 266 h 300"/>
                <a:gd name="T46" fmla="*/ 62 w 500"/>
                <a:gd name="T47" fmla="*/ 272 h 300"/>
                <a:gd name="T48" fmla="*/ 72 w 500"/>
                <a:gd name="T49" fmla="*/ 278 h 300"/>
                <a:gd name="T50" fmla="*/ 82 w 500"/>
                <a:gd name="T51" fmla="*/ 284 h 300"/>
                <a:gd name="T52" fmla="*/ 92 w 500"/>
                <a:gd name="T53" fmla="*/ 288 h 300"/>
                <a:gd name="T54" fmla="*/ 120 w 500"/>
                <a:gd name="T55" fmla="*/ 294 h 300"/>
                <a:gd name="T56" fmla="*/ 152 w 500"/>
                <a:gd name="T57" fmla="*/ 298 h 300"/>
                <a:gd name="T58" fmla="*/ 188 w 500"/>
                <a:gd name="T59" fmla="*/ 300 h 300"/>
                <a:gd name="T60" fmla="*/ 226 w 500"/>
                <a:gd name="T61" fmla="*/ 296 h 300"/>
                <a:gd name="T62" fmla="*/ 268 w 500"/>
                <a:gd name="T63" fmla="*/ 292 h 300"/>
                <a:gd name="T64" fmla="*/ 268 w 500"/>
                <a:gd name="T65" fmla="*/ 292 h 300"/>
                <a:gd name="T66" fmla="*/ 312 w 500"/>
                <a:gd name="T67" fmla="*/ 282 h 300"/>
                <a:gd name="T68" fmla="*/ 352 w 500"/>
                <a:gd name="T69" fmla="*/ 272 h 300"/>
                <a:gd name="T70" fmla="*/ 390 w 500"/>
                <a:gd name="T71" fmla="*/ 260 h 300"/>
                <a:gd name="T72" fmla="*/ 422 w 500"/>
                <a:gd name="T73" fmla="*/ 246 h 300"/>
                <a:gd name="T74" fmla="*/ 450 w 500"/>
                <a:gd name="T75" fmla="*/ 230 h 300"/>
                <a:gd name="T76" fmla="*/ 470 w 500"/>
                <a:gd name="T77" fmla="*/ 214 h 300"/>
                <a:gd name="T78" fmla="*/ 478 w 500"/>
                <a:gd name="T79" fmla="*/ 206 h 300"/>
                <a:gd name="T80" fmla="*/ 484 w 500"/>
                <a:gd name="T81" fmla="*/ 198 h 300"/>
                <a:gd name="T82" fmla="*/ 488 w 500"/>
                <a:gd name="T83" fmla="*/ 190 h 300"/>
                <a:gd name="T84" fmla="*/ 490 w 500"/>
                <a:gd name="T85" fmla="*/ 184 h 300"/>
                <a:gd name="T86" fmla="*/ 500 w 500"/>
                <a:gd name="T87" fmla="*/ 0 h 30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500"/>
                <a:gd name="T133" fmla="*/ 0 h 300"/>
                <a:gd name="T134" fmla="*/ 500 w 500"/>
                <a:gd name="T135" fmla="*/ 300 h 30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500" h="300">
                  <a:moveTo>
                    <a:pt x="500" y="0"/>
                  </a:moveTo>
                  <a:lnTo>
                    <a:pt x="500" y="0"/>
                  </a:lnTo>
                  <a:lnTo>
                    <a:pt x="476" y="20"/>
                  </a:lnTo>
                  <a:lnTo>
                    <a:pt x="450" y="40"/>
                  </a:lnTo>
                  <a:lnTo>
                    <a:pt x="422" y="56"/>
                  </a:lnTo>
                  <a:lnTo>
                    <a:pt x="392" y="72"/>
                  </a:lnTo>
                  <a:lnTo>
                    <a:pt x="360" y="86"/>
                  </a:lnTo>
                  <a:lnTo>
                    <a:pt x="326" y="96"/>
                  </a:lnTo>
                  <a:lnTo>
                    <a:pt x="290" y="106"/>
                  </a:lnTo>
                  <a:lnTo>
                    <a:pt x="254" y="112"/>
                  </a:lnTo>
                  <a:lnTo>
                    <a:pt x="218" y="116"/>
                  </a:lnTo>
                  <a:lnTo>
                    <a:pt x="182" y="118"/>
                  </a:lnTo>
                  <a:lnTo>
                    <a:pt x="148" y="116"/>
                  </a:lnTo>
                  <a:lnTo>
                    <a:pt x="116" y="110"/>
                  </a:lnTo>
                  <a:lnTo>
                    <a:pt x="84" y="104"/>
                  </a:lnTo>
                  <a:lnTo>
                    <a:pt x="54" y="94"/>
                  </a:lnTo>
                  <a:lnTo>
                    <a:pt x="26" y="82"/>
                  </a:lnTo>
                  <a:lnTo>
                    <a:pt x="0" y="68"/>
                  </a:lnTo>
                  <a:lnTo>
                    <a:pt x="48" y="252"/>
                  </a:lnTo>
                  <a:lnTo>
                    <a:pt x="52" y="260"/>
                  </a:lnTo>
                  <a:lnTo>
                    <a:pt x="56" y="266"/>
                  </a:lnTo>
                  <a:lnTo>
                    <a:pt x="62" y="272"/>
                  </a:lnTo>
                  <a:lnTo>
                    <a:pt x="72" y="278"/>
                  </a:lnTo>
                  <a:lnTo>
                    <a:pt x="82" y="284"/>
                  </a:lnTo>
                  <a:lnTo>
                    <a:pt x="92" y="288"/>
                  </a:lnTo>
                  <a:lnTo>
                    <a:pt x="120" y="294"/>
                  </a:lnTo>
                  <a:lnTo>
                    <a:pt x="152" y="298"/>
                  </a:lnTo>
                  <a:lnTo>
                    <a:pt x="188" y="300"/>
                  </a:lnTo>
                  <a:lnTo>
                    <a:pt x="226" y="296"/>
                  </a:lnTo>
                  <a:lnTo>
                    <a:pt x="268" y="292"/>
                  </a:lnTo>
                  <a:lnTo>
                    <a:pt x="312" y="282"/>
                  </a:lnTo>
                  <a:lnTo>
                    <a:pt x="352" y="272"/>
                  </a:lnTo>
                  <a:lnTo>
                    <a:pt x="390" y="260"/>
                  </a:lnTo>
                  <a:lnTo>
                    <a:pt x="422" y="246"/>
                  </a:lnTo>
                  <a:lnTo>
                    <a:pt x="450" y="230"/>
                  </a:lnTo>
                  <a:lnTo>
                    <a:pt x="470" y="214"/>
                  </a:lnTo>
                  <a:lnTo>
                    <a:pt x="478" y="206"/>
                  </a:lnTo>
                  <a:lnTo>
                    <a:pt x="484" y="198"/>
                  </a:lnTo>
                  <a:lnTo>
                    <a:pt x="488" y="190"/>
                  </a:lnTo>
                  <a:lnTo>
                    <a:pt x="490" y="184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4" name="Freeform 11"/>
            <p:cNvSpPr>
              <a:spLocks/>
            </p:cNvSpPr>
            <p:nvPr/>
          </p:nvSpPr>
          <p:spPr bwMode="auto">
            <a:xfrm>
              <a:off x="4611" y="2030"/>
              <a:ext cx="186" cy="310"/>
            </a:xfrm>
            <a:custGeom>
              <a:avLst/>
              <a:gdLst>
                <a:gd name="T0" fmla="*/ 148 w 186"/>
                <a:gd name="T1" fmla="*/ 8 h 310"/>
                <a:gd name="T2" fmla="*/ 148 w 186"/>
                <a:gd name="T3" fmla="*/ 8 h 310"/>
                <a:gd name="T4" fmla="*/ 136 w 186"/>
                <a:gd name="T5" fmla="*/ 22 h 310"/>
                <a:gd name="T6" fmla="*/ 124 w 186"/>
                <a:gd name="T7" fmla="*/ 40 h 310"/>
                <a:gd name="T8" fmla="*/ 110 w 186"/>
                <a:gd name="T9" fmla="*/ 64 h 310"/>
                <a:gd name="T10" fmla="*/ 96 w 186"/>
                <a:gd name="T11" fmla="*/ 96 h 310"/>
                <a:gd name="T12" fmla="*/ 88 w 186"/>
                <a:gd name="T13" fmla="*/ 114 h 310"/>
                <a:gd name="T14" fmla="*/ 84 w 186"/>
                <a:gd name="T15" fmla="*/ 136 h 310"/>
                <a:gd name="T16" fmla="*/ 78 w 186"/>
                <a:gd name="T17" fmla="*/ 158 h 310"/>
                <a:gd name="T18" fmla="*/ 74 w 186"/>
                <a:gd name="T19" fmla="*/ 184 h 310"/>
                <a:gd name="T20" fmla="*/ 72 w 186"/>
                <a:gd name="T21" fmla="*/ 212 h 310"/>
                <a:gd name="T22" fmla="*/ 72 w 186"/>
                <a:gd name="T23" fmla="*/ 242 h 310"/>
                <a:gd name="T24" fmla="*/ 72 w 186"/>
                <a:gd name="T25" fmla="*/ 242 h 310"/>
                <a:gd name="T26" fmla="*/ 58 w 186"/>
                <a:gd name="T27" fmla="*/ 246 h 310"/>
                <a:gd name="T28" fmla="*/ 44 w 186"/>
                <a:gd name="T29" fmla="*/ 250 h 310"/>
                <a:gd name="T30" fmla="*/ 30 w 186"/>
                <a:gd name="T31" fmla="*/ 256 h 310"/>
                <a:gd name="T32" fmla="*/ 16 w 186"/>
                <a:gd name="T33" fmla="*/ 264 h 310"/>
                <a:gd name="T34" fmla="*/ 6 w 186"/>
                <a:gd name="T35" fmla="*/ 276 h 310"/>
                <a:gd name="T36" fmla="*/ 2 w 186"/>
                <a:gd name="T37" fmla="*/ 282 h 310"/>
                <a:gd name="T38" fmla="*/ 0 w 186"/>
                <a:gd name="T39" fmla="*/ 288 h 310"/>
                <a:gd name="T40" fmla="*/ 0 w 186"/>
                <a:gd name="T41" fmla="*/ 296 h 310"/>
                <a:gd name="T42" fmla="*/ 2 w 186"/>
                <a:gd name="T43" fmla="*/ 304 h 310"/>
                <a:gd name="T44" fmla="*/ 2 w 186"/>
                <a:gd name="T45" fmla="*/ 304 h 310"/>
                <a:gd name="T46" fmla="*/ 10 w 186"/>
                <a:gd name="T47" fmla="*/ 308 h 310"/>
                <a:gd name="T48" fmla="*/ 20 w 186"/>
                <a:gd name="T49" fmla="*/ 310 h 310"/>
                <a:gd name="T50" fmla="*/ 34 w 186"/>
                <a:gd name="T51" fmla="*/ 310 h 310"/>
                <a:gd name="T52" fmla="*/ 110 w 186"/>
                <a:gd name="T53" fmla="*/ 276 h 310"/>
                <a:gd name="T54" fmla="*/ 110 w 186"/>
                <a:gd name="T55" fmla="*/ 276 h 310"/>
                <a:gd name="T56" fmla="*/ 112 w 186"/>
                <a:gd name="T57" fmla="*/ 274 h 310"/>
                <a:gd name="T58" fmla="*/ 116 w 186"/>
                <a:gd name="T59" fmla="*/ 268 h 310"/>
                <a:gd name="T60" fmla="*/ 118 w 186"/>
                <a:gd name="T61" fmla="*/ 260 h 310"/>
                <a:gd name="T62" fmla="*/ 118 w 186"/>
                <a:gd name="T63" fmla="*/ 256 h 310"/>
                <a:gd name="T64" fmla="*/ 116 w 186"/>
                <a:gd name="T65" fmla="*/ 250 h 310"/>
                <a:gd name="T66" fmla="*/ 102 w 186"/>
                <a:gd name="T67" fmla="*/ 236 h 310"/>
                <a:gd name="T68" fmla="*/ 102 w 186"/>
                <a:gd name="T69" fmla="*/ 236 h 310"/>
                <a:gd name="T70" fmla="*/ 102 w 186"/>
                <a:gd name="T71" fmla="*/ 214 h 310"/>
                <a:gd name="T72" fmla="*/ 102 w 186"/>
                <a:gd name="T73" fmla="*/ 192 h 310"/>
                <a:gd name="T74" fmla="*/ 106 w 186"/>
                <a:gd name="T75" fmla="*/ 162 h 310"/>
                <a:gd name="T76" fmla="*/ 110 w 186"/>
                <a:gd name="T77" fmla="*/ 146 h 310"/>
                <a:gd name="T78" fmla="*/ 114 w 186"/>
                <a:gd name="T79" fmla="*/ 130 h 310"/>
                <a:gd name="T80" fmla="*/ 120 w 186"/>
                <a:gd name="T81" fmla="*/ 114 h 310"/>
                <a:gd name="T82" fmla="*/ 130 w 186"/>
                <a:gd name="T83" fmla="*/ 96 h 310"/>
                <a:gd name="T84" fmla="*/ 140 w 186"/>
                <a:gd name="T85" fmla="*/ 80 h 310"/>
                <a:gd name="T86" fmla="*/ 152 w 186"/>
                <a:gd name="T87" fmla="*/ 62 h 310"/>
                <a:gd name="T88" fmla="*/ 168 w 186"/>
                <a:gd name="T89" fmla="*/ 48 h 310"/>
                <a:gd name="T90" fmla="*/ 186 w 186"/>
                <a:gd name="T91" fmla="*/ 32 h 310"/>
                <a:gd name="T92" fmla="*/ 186 w 186"/>
                <a:gd name="T93" fmla="*/ 32 h 310"/>
                <a:gd name="T94" fmla="*/ 186 w 186"/>
                <a:gd name="T95" fmla="*/ 24 h 310"/>
                <a:gd name="T96" fmla="*/ 186 w 186"/>
                <a:gd name="T97" fmla="*/ 18 h 310"/>
                <a:gd name="T98" fmla="*/ 186 w 186"/>
                <a:gd name="T99" fmla="*/ 10 h 310"/>
                <a:gd name="T100" fmla="*/ 182 w 186"/>
                <a:gd name="T101" fmla="*/ 4 h 310"/>
                <a:gd name="T102" fmla="*/ 178 w 186"/>
                <a:gd name="T103" fmla="*/ 2 h 310"/>
                <a:gd name="T104" fmla="*/ 174 w 186"/>
                <a:gd name="T105" fmla="*/ 0 h 310"/>
                <a:gd name="T106" fmla="*/ 170 w 186"/>
                <a:gd name="T107" fmla="*/ 0 h 310"/>
                <a:gd name="T108" fmla="*/ 164 w 186"/>
                <a:gd name="T109" fmla="*/ 2 h 310"/>
                <a:gd name="T110" fmla="*/ 148 w 186"/>
                <a:gd name="T111" fmla="*/ 8 h 310"/>
                <a:gd name="T112" fmla="*/ 148 w 186"/>
                <a:gd name="T113" fmla="*/ 8 h 31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86"/>
                <a:gd name="T172" fmla="*/ 0 h 310"/>
                <a:gd name="T173" fmla="*/ 186 w 186"/>
                <a:gd name="T174" fmla="*/ 310 h 31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86" h="310">
                  <a:moveTo>
                    <a:pt x="148" y="8"/>
                  </a:moveTo>
                  <a:lnTo>
                    <a:pt x="148" y="8"/>
                  </a:lnTo>
                  <a:lnTo>
                    <a:pt x="136" y="22"/>
                  </a:lnTo>
                  <a:lnTo>
                    <a:pt x="124" y="40"/>
                  </a:lnTo>
                  <a:lnTo>
                    <a:pt x="110" y="64"/>
                  </a:lnTo>
                  <a:lnTo>
                    <a:pt x="96" y="96"/>
                  </a:lnTo>
                  <a:lnTo>
                    <a:pt x="88" y="114"/>
                  </a:lnTo>
                  <a:lnTo>
                    <a:pt x="84" y="136"/>
                  </a:lnTo>
                  <a:lnTo>
                    <a:pt x="78" y="158"/>
                  </a:lnTo>
                  <a:lnTo>
                    <a:pt x="74" y="184"/>
                  </a:lnTo>
                  <a:lnTo>
                    <a:pt x="72" y="212"/>
                  </a:lnTo>
                  <a:lnTo>
                    <a:pt x="72" y="242"/>
                  </a:lnTo>
                  <a:lnTo>
                    <a:pt x="58" y="246"/>
                  </a:lnTo>
                  <a:lnTo>
                    <a:pt x="44" y="250"/>
                  </a:lnTo>
                  <a:lnTo>
                    <a:pt x="30" y="256"/>
                  </a:lnTo>
                  <a:lnTo>
                    <a:pt x="16" y="264"/>
                  </a:lnTo>
                  <a:lnTo>
                    <a:pt x="6" y="276"/>
                  </a:lnTo>
                  <a:lnTo>
                    <a:pt x="2" y="282"/>
                  </a:lnTo>
                  <a:lnTo>
                    <a:pt x="0" y="288"/>
                  </a:lnTo>
                  <a:lnTo>
                    <a:pt x="0" y="296"/>
                  </a:lnTo>
                  <a:lnTo>
                    <a:pt x="2" y="304"/>
                  </a:lnTo>
                  <a:lnTo>
                    <a:pt x="10" y="308"/>
                  </a:lnTo>
                  <a:lnTo>
                    <a:pt x="20" y="310"/>
                  </a:lnTo>
                  <a:lnTo>
                    <a:pt x="34" y="310"/>
                  </a:lnTo>
                  <a:lnTo>
                    <a:pt x="110" y="276"/>
                  </a:lnTo>
                  <a:lnTo>
                    <a:pt x="112" y="274"/>
                  </a:lnTo>
                  <a:lnTo>
                    <a:pt x="116" y="268"/>
                  </a:lnTo>
                  <a:lnTo>
                    <a:pt x="118" y="260"/>
                  </a:lnTo>
                  <a:lnTo>
                    <a:pt x="118" y="256"/>
                  </a:lnTo>
                  <a:lnTo>
                    <a:pt x="116" y="250"/>
                  </a:lnTo>
                  <a:lnTo>
                    <a:pt x="102" y="236"/>
                  </a:lnTo>
                  <a:lnTo>
                    <a:pt x="102" y="214"/>
                  </a:lnTo>
                  <a:lnTo>
                    <a:pt x="102" y="192"/>
                  </a:lnTo>
                  <a:lnTo>
                    <a:pt x="106" y="162"/>
                  </a:lnTo>
                  <a:lnTo>
                    <a:pt x="110" y="146"/>
                  </a:lnTo>
                  <a:lnTo>
                    <a:pt x="114" y="130"/>
                  </a:lnTo>
                  <a:lnTo>
                    <a:pt x="120" y="114"/>
                  </a:lnTo>
                  <a:lnTo>
                    <a:pt x="130" y="96"/>
                  </a:lnTo>
                  <a:lnTo>
                    <a:pt x="140" y="80"/>
                  </a:lnTo>
                  <a:lnTo>
                    <a:pt x="152" y="62"/>
                  </a:lnTo>
                  <a:lnTo>
                    <a:pt x="168" y="48"/>
                  </a:lnTo>
                  <a:lnTo>
                    <a:pt x="186" y="32"/>
                  </a:lnTo>
                  <a:lnTo>
                    <a:pt x="186" y="24"/>
                  </a:lnTo>
                  <a:lnTo>
                    <a:pt x="186" y="18"/>
                  </a:lnTo>
                  <a:lnTo>
                    <a:pt x="186" y="10"/>
                  </a:lnTo>
                  <a:lnTo>
                    <a:pt x="182" y="4"/>
                  </a:lnTo>
                  <a:lnTo>
                    <a:pt x="178" y="2"/>
                  </a:lnTo>
                  <a:lnTo>
                    <a:pt x="174" y="0"/>
                  </a:lnTo>
                  <a:lnTo>
                    <a:pt x="170" y="0"/>
                  </a:lnTo>
                  <a:lnTo>
                    <a:pt x="164" y="2"/>
                  </a:lnTo>
                  <a:lnTo>
                    <a:pt x="148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5" name="Freeform 12"/>
            <p:cNvSpPr>
              <a:spLocks/>
            </p:cNvSpPr>
            <p:nvPr/>
          </p:nvSpPr>
          <p:spPr bwMode="auto">
            <a:xfrm>
              <a:off x="4893" y="2016"/>
              <a:ext cx="188" cy="310"/>
            </a:xfrm>
            <a:custGeom>
              <a:avLst/>
              <a:gdLst>
                <a:gd name="T0" fmla="*/ 40 w 188"/>
                <a:gd name="T1" fmla="*/ 8 h 310"/>
                <a:gd name="T2" fmla="*/ 40 w 188"/>
                <a:gd name="T3" fmla="*/ 8 h 310"/>
                <a:gd name="T4" fmla="*/ 52 w 188"/>
                <a:gd name="T5" fmla="*/ 22 h 310"/>
                <a:gd name="T6" fmla="*/ 64 w 188"/>
                <a:gd name="T7" fmla="*/ 38 h 310"/>
                <a:gd name="T8" fmla="*/ 78 w 188"/>
                <a:gd name="T9" fmla="*/ 62 h 310"/>
                <a:gd name="T10" fmla="*/ 92 w 188"/>
                <a:gd name="T11" fmla="*/ 96 h 310"/>
                <a:gd name="T12" fmla="*/ 98 w 188"/>
                <a:gd name="T13" fmla="*/ 114 h 310"/>
                <a:gd name="T14" fmla="*/ 104 w 188"/>
                <a:gd name="T15" fmla="*/ 136 h 310"/>
                <a:gd name="T16" fmla="*/ 110 w 188"/>
                <a:gd name="T17" fmla="*/ 158 h 310"/>
                <a:gd name="T18" fmla="*/ 114 w 188"/>
                <a:gd name="T19" fmla="*/ 184 h 310"/>
                <a:gd name="T20" fmla="*/ 116 w 188"/>
                <a:gd name="T21" fmla="*/ 212 h 310"/>
                <a:gd name="T22" fmla="*/ 116 w 188"/>
                <a:gd name="T23" fmla="*/ 240 h 310"/>
                <a:gd name="T24" fmla="*/ 116 w 188"/>
                <a:gd name="T25" fmla="*/ 240 h 310"/>
                <a:gd name="T26" fmla="*/ 130 w 188"/>
                <a:gd name="T27" fmla="*/ 244 h 310"/>
                <a:gd name="T28" fmla="*/ 144 w 188"/>
                <a:gd name="T29" fmla="*/ 250 h 310"/>
                <a:gd name="T30" fmla="*/ 158 w 188"/>
                <a:gd name="T31" fmla="*/ 256 h 310"/>
                <a:gd name="T32" fmla="*/ 172 w 188"/>
                <a:gd name="T33" fmla="*/ 264 h 310"/>
                <a:gd name="T34" fmla="*/ 182 w 188"/>
                <a:gd name="T35" fmla="*/ 276 h 310"/>
                <a:gd name="T36" fmla="*/ 186 w 188"/>
                <a:gd name="T37" fmla="*/ 282 h 310"/>
                <a:gd name="T38" fmla="*/ 188 w 188"/>
                <a:gd name="T39" fmla="*/ 288 h 310"/>
                <a:gd name="T40" fmla="*/ 188 w 188"/>
                <a:gd name="T41" fmla="*/ 296 h 310"/>
                <a:gd name="T42" fmla="*/ 186 w 188"/>
                <a:gd name="T43" fmla="*/ 304 h 310"/>
                <a:gd name="T44" fmla="*/ 186 w 188"/>
                <a:gd name="T45" fmla="*/ 304 h 310"/>
                <a:gd name="T46" fmla="*/ 178 w 188"/>
                <a:gd name="T47" fmla="*/ 308 h 310"/>
                <a:gd name="T48" fmla="*/ 168 w 188"/>
                <a:gd name="T49" fmla="*/ 310 h 310"/>
                <a:gd name="T50" fmla="*/ 152 w 188"/>
                <a:gd name="T51" fmla="*/ 310 h 310"/>
                <a:gd name="T52" fmla="*/ 78 w 188"/>
                <a:gd name="T53" fmla="*/ 274 h 310"/>
                <a:gd name="T54" fmla="*/ 78 w 188"/>
                <a:gd name="T55" fmla="*/ 274 h 310"/>
                <a:gd name="T56" fmla="*/ 76 w 188"/>
                <a:gd name="T57" fmla="*/ 272 h 310"/>
                <a:gd name="T58" fmla="*/ 72 w 188"/>
                <a:gd name="T59" fmla="*/ 268 h 310"/>
                <a:gd name="T60" fmla="*/ 70 w 188"/>
                <a:gd name="T61" fmla="*/ 260 h 310"/>
                <a:gd name="T62" fmla="*/ 70 w 188"/>
                <a:gd name="T63" fmla="*/ 254 h 310"/>
                <a:gd name="T64" fmla="*/ 72 w 188"/>
                <a:gd name="T65" fmla="*/ 250 h 310"/>
                <a:gd name="T66" fmla="*/ 84 w 188"/>
                <a:gd name="T67" fmla="*/ 234 h 310"/>
                <a:gd name="T68" fmla="*/ 84 w 188"/>
                <a:gd name="T69" fmla="*/ 234 h 310"/>
                <a:gd name="T70" fmla="*/ 86 w 188"/>
                <a:gd name="T71" fmla="*/ 214 h 310"/>
                <a:gd name="T72" fmla="*/ 86 w 188"/>
                <a:gd name="T73" fmla="*/ 190 h 310"/>
                <a:gd name="T74" fmla="*/ 82 w 188"/>
                <a:gd name="T75" fmla="*/ 162 h 310"/>
                <a:gd name="T76" fmla="*/ 78 w 188"/>
                <a:gd name="T77" fmla="*/ 146 h 310"/>
                <a:gd name="T78" fmla="*/ 74 w 188"/>
                <a:gd name="T79" fmla="*/ 130 h 310"/>
                <a:gd name="T80" fmla="*/ 66 w 188"/>
                <a:gd name="T81" fmla="*/ 112 h 310"/>
                <a:gd name="T82" fmla="*/ 58 w 188"/>
                <a:gd name="T83" fmla="*/ 96 h 310"/>
                <a:gd name="T84" fmla="*/ 48 w 188"/>
                <a:gd name="T85" fmla="*/ 78 h 310"/>
                <a:gd name="T86" fmla="*/ 36 w 188"/>
                <a:gd name="T87" fmla="*/ 62 h 310"/>
                <a:gd name="T88" fmla="*/ 20 w 188"/>
                <a:gd name="T89" fmla="*/ 46 h 310"/>
                <a:gd name="T90" fmla="*/ 2 w 188"/>
                <a:gd name="T91" fmla="*/ 32 h 310"/>
                <a:gd name="T92" fmla="*/ 2 w 188"/>
                <a:gd name="T93" fmla="*/ 32 h 310"/>
                <a:gd name="T94" fmla="*/ 0 w 188"/>
                <a:gd name="T95" fmla="*/ 24 h 310"/>
                <a:gd name="T96" fmla="*/ 2 w 188"/>
                <a:gd name="T97" fmla="*/ 16 h 310"/>
                <a:gd name="T98" fmla="*/ 2 w 188"/>
                <a:gd name="T99" fmla="*/ 10 h 310"/>
                <a:gd name="T100" fmla="*/ 6 w 188"/>
                <a:gd name="T101" fmla="*/ 4 h 310"/>
                <a:gd name="T102" fmla="*/ 10 w 188"/>
                <a:gd name="T103" fmla="*/ 2 h 310"/>
                <a:gd name="T104" fmla="*/ 14 w 188"/>
                <a:gd name="T105" fmla="*/ 0 h 310"/>
                <a:gd name="T106" fmla="*/ 18 w 188"/>
                <a:gd name="T107" fmla="*/ 0 h 310"/>
                <a:gd name="T108" fmla="*/ 24 w 188"/>
                <a:gd name="T109" fmla="*/ 2 h 310"/>
                <a:gd name="T110" fmla="*/ 40 w 188"/>
                <a:gd name="T111" fmla="*/ 8 h 310"/>
                <a:gd name="T112" fmla="*/ 40 w 188"/>
                <a:gd name="T113" fmla="*/ 8 h 31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88"/>
                <a:gd name="T172" fmla="*/ 0 h 310"/>
                <a:gd name="T173" fmla="*/ 188 w 188"/>
                <a:gd name="T174" fmla="*/ 310 h 31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88" h="310">
                  <a:moveTo>
                    <a:pt x="40" y="8"/>
                  </a:moveTo>
                  <a:lnTo>
                    <a:pt x="40" y="8"/>
                  </a:lnTo>
                  <a:lnTo>
                    <a:pt x="52" y="22"/>
                  </a:lnTo>
                  <a:lnTo>
                    <a:pt x="64" y="38"/>
                  </a:lnTo>
                  <a:lnTo>
                    <a:pt x="78" y="62"/>
                  </a:lnTo>
                  <a:lnTo>
                    <a:pt x="92" y="96"/>
                  </a:lnTo>
                  <a:lnTo>
                    <a:pt x="98" y="114"/>
                  </a:lnTo>
                  <a:lnTo>
                    <a:pt x="104" y="136"/>
                  </a:lnTo>
                  <a:lnTo>
                    <a:pt x="110" y="158"/>
                  </a:lnTo>
                  <a:lnTo>
                    <a:pt x="114" y="184"/>
                  </a:lnTo>
                  <a:lnTo>
                    <a:pt x="116" y="212"/>
                  </a:lnTo>
                  <a:lnTo>
                    <a:pt x="116" y="240"/>
                  </a:lnTo>
                  <a:lnTo>
                    <a:pt x="130" y="244"/>
                  </a:lnTo>
                  <a:lnTo>
                    <a:pt x="144" y="250"/>
                  </a:lnTo>
                  <a:lnTo>
                    <a:pt x="158" y="256"/>
                  </a:lnTo>
                  <a:lnTo>
                    <a:pt x="172" y="264"/>
                  </a:lnTo>
                  <a:lnTo>
                    <a:pt x="182" y="276"/>
                  </a:lnTo>
                  <a:lnTo>
                    <a:pt x="186" y="282"/>
                  </a:lnTo>
                  <a:lnTo>
                    <a:pt x="188" y="288"/>
                  </a:lnTo>
                  <a:lnTo>
                    <a:pt x="188" y="296"/>
                  </a:lnTo>
                  <a:lnTo>
                    <a:pt x="186" y="304"/>
                  </a:lnTo>
                  <a:lnTo>
                    <a:pt x="178" y="308"/>
                  </a:lnTo>
                  <a:lnTo>
                    <a:pt x="168" y="310"/>
                  </a:lnTo>
                  <a:lnTo>
                    <a:pt x="152" y="310"/>
                  </a:lnTo>
                  <a:lnTo>
                    <a:pt x="78" y="274"/>
                  </a:lnTo>
                  <a:lnTo>
                    <a:pt x="76" y="272"/>
                  </a:lnTo>
                  <a:lnTo>
                    <a:pt x="72" y="268"/>
                  </a:lnTo>
                  <a:lnTo>
                    <a:pt x="70" y="260"/>
                  </a:lnTo>
                  <a:lnTo>
                    <a:pt x="70" y="254"/>
                  </a:lnTo>
                  <a:lnTo>
                    <a:pt x="72" y="250"/>
                  </a:lnTo>
                  <a:lnTo>
                    <a:pt x="84" y="234"/>
                  </a:lnTo>
                  <a:lnTo>
                    <a:pt x="86" y="214"/>
                  </a:lnTo>
                  <a:lnTo>
                    <a:pt x="86" y="190"/>
                  </a:lnTo>
                  <a:lnTo>
                    <a:pt x="82" y="162"/>
                  </a:lnTo>
                  <a:lnTo>
                    <a:pt x="78" y="146"/>
                  </a:lnTo>
                  <a:lnTo>
                    <a:pt x="74" y="130"/>
                  </a:lnTo>
                  <a:lnTo>
                    <a:pt x="66" y="112"/>
                  </a:lnTo>
                  <a:lnTo>
                    <a:pt x="58" y="96"/>
                  </a:lnTo>
                  <a:lnTo>
                    <a:pt x="48" y="78"/>
                  </a:lnTo>
                  <a:lnTo>
                    <a:pt x="36" y="62"/>
                  </a:lnTo>
                  <a:lnTo>
                    <a:pt x="20" y="46"/>
                  </a:lnTo>
                  <a:lnTo>
                    <a:pt x="2" y="32"/>
                  </a:lnTo>
                  <a:lnTo>
                    <a:pt x="0" y="24"/>
                  </a:lnTo>
                  <a:lnTo>
                    <a:pt x="2" y="16"/>
                  </a:lnTo>
                  <a:lnTo>
                    <a:pt x="2" y="10"/>
                  </a:lnTo>
                  <a:lnTo>
                    <a:pt x="6" y="4"/>
                  </a:lnTo>
                  <a:lnTo>
                    <a:pt x="10" y="2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4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6" name="Freeform 13"/>
            <p:cNvSpPr>
              <a:spLocks/>
            </p:cNvSpPr>
            <p:nvPr/>
          </p:nvSpPr>
          <p:spPr bwMode="auto">
            <a:xfrm>
              <a:off x="4465" y="1572"/>
              <a:ext cx="642" cy="402"/>
            </a:xfrm>
            <a:custGeom>
              <a:avLst/>
              <a:gdLst>
                <a:gd name="T0" fmla="*/ 642 w 642"/>
                <a:gd name="T1" fmla="*/ 158 h 402"/>
                <a:gd name="T2" fmla="*/ 630 w 642"/>
                <a:gd name="T3" fmla="*/ 120 h 402"/>
                <a:gd name="T4" fmla="*/ 606 w 642"/>
                <a:gd name="T5" fmla="*/ 86 h 402"/>
                <a:gd name="T6" fmla="*/ 572 w 642"/>
                <a:gd name="T7" fmla="*/ 56 h 402"/>
                <a:gd name="T8" fmla="*/ 530 w 642"/>
                <a:gd name="T9" fmla="*/ 32 h 402"/>
                <a:gd name="T10" fmla="*/ 480 w 642"/>
                <a:gd name="T11" fmla="*/ 14 h 402"/>
                <a:gd name="T12" fmla="*/ 422 w 642"/>
                <a:gd name="T13" fmla="*/ 4 h 402"/>
                <a:gd name="T14" fmla="*/ 360 w 642"/>
                <a:gd name="T15" fmla="*/ 0 h 402"/>
                <a:gd name="T16" fmla="*/ 296 w 642"/>
                <a:gd name="T17" fmla="*/ 4 h 402"/>
                <a:gd name="T18" fmla="*/ 264 w 642"/>
                <a:gd name="T19" fmla="*/ 10 h 402"/>
                <a:gd name="T20" fmla="*/ 202 w 642"/>
                <a:gd name="T21" fmla="*/ 26 h 402"/>
                <a:gd name="T22" fmla="*/ 146 w 642"/>
                <a:gd name="T23" fmla="*/ 48 h 402"/>
                <a:gd name="T24" fmla="*/ 98 w 642"/>
                <a:gd name="T25" fmla="*/ 76 h 402"/>
                <a:gd name="T26" fmla="*/ 58 w 642"/>
                <a:gd name="T27" fmla="*/ 108 h 402"/>
                <a:gd name="T28" fmla="*/ 28 w 642"/>
                <a:gd name="T29" fmla="*/ 144 h 402"/>
                <a:gd name="T30" fmla="*/ 8 w 642"/>
                <a:gd name="T31" fmla="*/ 182 h 402"/>
                <a:gd name="T32" fmla="*/ 0 w 642"/>
                <a:gd name="T33" fmla="*/ 222 h 402"/>
                <a:gd name="T34" fmla="*/ 0 w 642"/>
                <a:gd name="T35" fmla="*/ 242 h 402"/>
                <a:gd name="T36" fmla="*/ 12 w 642"/>
                <a:gd name="T37" fmla="*/ 282 h 402"/>
                <a:gd name="T38" fmla="*/ 36 w 642"/>
                <a:gd name="T39" fmla="*/ 316 h 402"/>
                <a:gd name="T40" fmla="*/ 70 w 642"/>
                <a:gd name="T41" fmla="*/ 346 h 402"/>
                <a:gd name="T42" fmla="*/ 112 w 642"/>
                <a:gd name="T43" fmla="*/ 370 h 402"/>
                <a:gd name="T44" fmla="*/ 164 w 642"/>
                <a:gd name="T45" fmla="*/ 386 h 402"/>
                <a:gd name="T46" fmla="*/ 220 w 642"/>
                <a:gd name="T47" fmla="*/ 398 h 402"/>
                <a:gd name="T48" fmla="*/ 282 w 642"/>
                <a:gd name="T49" fmla="*/ 402 h 402"/>
                <a:gd name="T50" fmla="*/ 348 w 642"/>
                <a:gd name="T51" fmla="*/ 398 h 402"/>
                <a:gd name="T52" fmla="*/ 380 w 642"/>
                <a:gd name="T53" fmla="*/ 392 h 402"/>
                <a:gd name="T54" fmla="*/ 442 w 642"/>
                <a:gd name="T55" fmla="*/ 376 h 402"/>
                <a:gd name="T56" fmla="*/ 496 w 642"/>
                <a:gd name="T57" fmla="*/ 354 h 402"/>
                <a:gd name="T58" fmla="*/ 546 w 642"/>
                <a:gd name="T59" fmla="*/ 326 h 402"/>
                <a:gd name="T60" fmla="*/ 586 w 642"/>
                <a:gd name="T61" fmla="*/ 294 h 402"/>
                <a:gd name="T62" fmla="*/ 616 w 642"/>
                <a:gd name="T63" fmla="*/ 258 h 402"/>
                <a:gd name="T64" fmla="*/ 636 w 642"/>
                <a:gd name="T65" fmla="*/ 220 h 402"/>
                <a:gd name="T66" fmla="*/ 642 w 642"/>
                <a:gd name="T67" fmla="*/ 180 h 402"/>
                <a:gd name="T68" fmla="*/ 642 w 642"/>
                <a:gd name="T69" fmla="*/ 158 h 40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642"/>
                <a:gd name="T106" fmla="*/ 0 h 402"/>
                <a:gd name="T107" fmla="*/ 642 w 642"/>
                <a:gd name="T108" fmla="*/ 402 h 40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642" h="402">
                  <a:moveTo>
                    <a:pt x="642" y="158"/>
                  </a:moveTo>
                  <a:lnTo>
                    <a:pt x="642" y="158"/>
                  </a:lnTo>
                  <a:lnTo>
                    <a:pt x="638" y="138"/>
                  </a:lnTo>
                  <a:lnTo>
                    <a:pt x="630" y="120"/>
                  </a:lnTo>
                  <a:lnTo>
                    <a:pt x="620" y="102"/>
                  </a:lnTo>
                  <a:lnTo>
                    <a:pt x="606" y="86"/>
                  </a:lnTo>
                  <a:lnTo>
                    <a:pt x="590" y="70"/>
                  </a:lnTo>
                  <a:lnTo>
                    <a:pt x="572" y="56"/>
                  </a:lnTo>
                  <a:lnTo>
                    <a:pt x="552" y="44"/>
                  </a:lnTo>
                  <a:lnTo>
                    <a:pt x="530" y="32"/>
                  </a:lnTo>
                  <a:lnTo>
                    <a:pt x="506" y="22"/>
                  </a:lnTo>
                  <a:lnTo>
                    <a:pt x="480" y="14"/>
                  </a:lnTo>
                  <a:lnTo>
                    <a:pt x="452" y="8"/>
                  </a:lnTo>
                  <a:lnTo>
                    <a:pt x="422" y="4"/>
                  </a:lnTo>
                  <a:lnTo>
                    <a:pt x="392" y="0"/>
                  </a:lnTo>
                  <a:lnTo>
                    <a:pt x="360" y="0"/>
                  </a:lnTo>
                  <a:lnTo>
                    <a:pt x="328" y="0"/>
                  </a:lnTo>
                  <a:lnTo>
                    <a:pt x="296" y="4"/>
                  </a:lnTo>
                  <a:lnTo>
                    <a:pt x="264" y="10"/>
                  </a:lnTo>
                  <a:lnTo>
                    <a:pt x="232" y="16"/>
                  </a:lnTo>
                  <a:lnTo>
                    <a:pt x="202" y="26"/>
                  </a:lnTo>
                  <a:lnTo>
                    <a:pt x="174" y="36"/>
                  </a:lnTo>
                  <a:lnTo>
                    <a:pt x="146" y="48"/>
                  </a:lnTo>
                  <a:lnTo>
                    <a:pt x="120" y="60"/>
                  </a:lnTo>
                  <a:lnTo>
                    <a:pt x="98" y="76"/>
                  </a:lnTo>
                  <a:lnTo>
                    <a:pt x="76" y="92"/>
                  </a:lnTo>
                  <a:lnTo>
                    <a:pt x="58" y="108"/>
                  </a:lnTo>
                  <a:lnTo>
                    <a:pt x="42" y="126"/>
                  </a:lnTo>
                  <a:lnTo>
                    <a:pt x="28" y="144"/>
                  </a:lnTo>
                  <a:lnTo>
                    <a:pt x="16" y="162"/>
                  </a:lnTo>
                  <a:lnTo>
                    <a:pt x="8" y="182"/>
                  </a:lnTo>
                  <a:lnTo>
                    <a:pt x="2" y="202"/>
                  </a:lnTo>
                  <a:lnTo>
                    <a:pt x="0" y="222"/>
                  </a:lnTo>
                  <a:lnTo>
                    <a:pt x="0" y="242"/>
                  </a:lnTo>
                  <a:lnTo>
                    <a:pt x="6" y="262"/>
                  </a:lnTo>
                  <a:lnTo>
                    <a:pt x="12" y="282"/>
                  </a:lnTo>
                  <a:lnTo>
                    <a:pt x="22" y="298"/>
                  </a:lnTo>
                  <a:lnTo>
                    <a:pt x="36" y="316"/>
                  </a:lnTo>
                  <a:lnTo>
                    <a:pt x="52" y="332"/>
                  </a:lnTo>
                  <a:lnTo>
                    <a:pt x="70" y="346"/>
                  </a:lnTo>
                  <a:lnTo>
                    <a:pt x="90" y="358"/>
                  </a:lnTo>
                  <a:lnTo>
                    <a:pt x="112" y="370"/>
                  </a:lnTo>
                  <a:lnTo>
                    <a:pt x="138" y="378"/>
                  </a:lnTo>
                  <a:lnTo>
                    <a:pt x="164" y="386"/>
                  </a:lnTo>
                  <a:lnTo>
                    <a:pt x="192" y="394"/>
                  </a:lnTo>
                  <a:lnTo>
                    <a:pt x="220" y="398"/>
                  </a:lnTo>
                  <a:lnTo>
                    <a:pt x="250" y="400"/>
                  </a:lnTo>
                  <a:lnTo>
                    <a:pt x="282" y="402"/>
                  </a:lnTo>
                  <a:lnTo>
                    <a:pt x="314" y="400"/>
                  </a:lnTo>
                  <a:lnTo>
                    <a:pt x="348" y="398"/>
                  </a:lnTo>
                  <a:lnTo>
                    <a:pt x="380" y="392"/>
                  </a:lnTo>
                  <a:lnTo>
                    <a:pt x="412" y="384"/>
                  </a:lnTo>
                  <a:lnTo>
                    <a:pt x="442" y="376"/>
                  </a:lnTo>
                  <a:lnTo>
                    <a:pt x="470" y="366"/>
                  </a:lnTo>
                  <a:lnTo>
                    <a:pt x="496" y="354"/>
                  </a:lnTo>
                  <a:lnTo>
                    <a:pt x="522" y="340"/>
                  </a:lnTo>
                  <a:lnTo>
                    <a:pt x="546" y="326"/>
                  </a:lnTo>
                  <a:lnTo>
                    <a:pt x="566" y="310"/>
                  </a:lnTo>
                  <a:lnTo>
                    <a:pt x="586" y="294"/>
                  </a:lnTo>
                  <a:lnTo>
                    <a:pt x="602" y="276"/>
                  </a:lnTo>
                  <a:lnTo>
                    <a:pt x="616" y="258"/>
                  </a:lnTo>
                  <a:lnTo>
                    <a:pt x="626" y="238"/>
                  </a:lnTo>
                  <a:lnTo>
                    <a:pt x="636" y="220"/>
                  </a:lnTo>
                  <a:lnTo>
                    <a:pt x="640" y="200"/>
                  </a:lnTo>
                  <a:lnTo>
                    <a:pt x="642" y="180"/>
                  </a:lnTo>
                  <a:lnTo>
                    <a:pt x="642" y="1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7" name="Freeform 14"/>
            <p:cNvSpPr>
              <a:spLocks/>
            </p:cNvSpPr>
            <p:nvPr/>
          </p:nvSpPr>
          <p:spPr bwMode="auto">
            <a:xfrm>
              <a:off x="4557" y="1736"/>
              <a:ext cx="88" cy="84"/>
            </a:xfrm>
            <a:custGeom>
              <a:avLst/>
              <a:gdLst>
                <a:gd name="T0" fmla="*/ 50 w 88"/>
                <a:gd name="T1" fmla="*/ 74 h 84"/>
                <a:gd name="T2" fmla="*/ 50 w 88"/>
                <a:gd name="T3" fmla="*/ 74 h 84"/>
                <a:gd name="T4" fmla="*/ 66 w 88"/>
                <a:gd name="T5" fmla="*/ 72 h 84"/>
                <a:gd name="T6" fmla="*/ 80 w 88"/>
                <a:gd name="T7" fmla="*/ 72 h 84"/>
                <a:gd name="T8" fmla="*/ 80 w 88"/>
                <a:gd name="T9" fmla="*/ 72 h 84"/>
                <a:gd name="T10" fmla="*/ 84 w 88"/>
                <a:gd name="T11" fmla="*/ 64 h 84"/>
                <a:gd name="T12" fmla="*/ 84 w 88"/>
                <a:gd name="T13" fmla="*/ 64 h 84"/>
                <a:gd name="T14" fmla="*/ 88 w 88"/>
                <a:gd name="T15" fmla="*/ 56 h 84"/>
                <a:gd name="T16" fmla="*/ 88 w 88"/>
                <a:gd name="T17" fmla="*/ 46 h 84"/>
                <a:gd name="T18" fmla="*/ 88 w 88"/>
                <a:gd name="T19" fmla="*/ 36 h 84"/>
                <a:gd name="T20" fmla="*/ 86 w 88"/>
                <a:gd name="T21" fmla="*/ 28 h 84"/>
                <a:gd name="T22" fmla="*/ 82 w 88"/>
                <a:gd name="T23" fmla="*/ 20 h 84"/>
                <a:gd name="T24" fmla="*/ 76 w 88"/>
                <a:gd name="T25" fmla="*/ 14 h 84"/>
                <a:gd name="T26" fmla="*/ 70 w 88"/>
                <a:gd name="T27" fmla="*/ 8 h 84"/>
                <a:gd name="T28" fmla="*/ 62 w 88"/>
                <a:gd name="T29" fmla="*/ 4 h 84"/>
                <a:gd name="T30" fmla="*/ 62 w 88"/>
                <a:gd name="T31" fmla="*/ 4 h 84"/>
                <a:gd name="T32" fmla="*/ 54 w 88"/>
                <a:gd name="T33" fmla="*/ 0 h 84"/>
                <a:gd name="T34" fmla="*/ 46 w 88"/>
                <a:gd name="T35" fmla="*/ 0 h 84"/>
                <a:gd name="T36" fmla="*/ 38 w 88"/>
                <a:gd name="T37" fmla="*/ 2 h 84"/>
                <a:gd name="T38" fmla="*/ 28 w 88"/>
                <a:gd name="T39" fmla="*/ 6 h 84"/>
                <a:gd name="T40" fmla="*/ 22 w 88"/>
                <a:gd name="T41" fmla="*/ 10 h 84"/>
                <a:gd name="T42" fmla="*/ 14 w 88"/>
                <a:gd name="T43" fmla="*/ 16 h 84"/>
                <a:gd name="T44" fmla="*/ 8 w 88"/>
                <a:gd name="T45" fmla="*/ 24 h 84"/>
                <a:gd name="T46" fmla="*/ 4 w 88"/>
                <a:gd name="T47" fmla="*/ 32 h 84"/>
                <a:gd name="T48" fmla="*/ 4 w 88"/>
                <a:gd name="T49" fmla="*/ 32 h 84"/>
                <a:gd name="T50" fmla="*/ 0 w 88"/>
                <a:gd name="T51" fmla="*/ 46 h 84"/>
                <a:gd name="T52" fmla="*/ 0 w 88"/>
                <a:gd name="T53" fmla="*/ 60 h 84"/>
                <a:gd name="T54" fmla="*/ 4 w 88"/>
                <a:gd name="T55" fmla="*/ 74 h 84"/>
                <a:gd name="T56" fmla="*/ 12 w 88"/>
                <a:gd name="T57" fmla="*/ 84 h 84"/>
                <a:gd name="T58" fmla="*/ 12 w 88"/>
                <a:gd name="T59" fmla="*/ 84 h 84"/>
                <a:gd name="T60" fmla="*/ 28 w 88"/>
                <a:gd name="T61" fmla="*/ 78 h 84"/>
                <a:gd name="T62" fmla="*/ 50 w 88"/>
                <a:gd name="T63" fmla="*/ 74 h 84"/>
                <a:gd name="T64" fmla="*/ 50 w 88"/>
                <a:gd name="T65" fmla="*/ 74 h 8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88"/>
                <a:gd name="T100" fmla="*/ 0 h 84"/>
                <a:gd name="T101" fmla="*/ 88 w 88"/>
                <a:gd name="T102" fmla="*/ 84 h 8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88" h="84">
                  <a:moveTo>
                    <a:pt x="50" y="74"/>
                  </a:moveTo>
                  <a:lnTo>
                    <a:pt x="50" y="74"/>
                  </a:lnTo>
                  <a:lnTo>
                    <a:pt x="66" y="72"/>
                  </a:lnTo>
                  <a:lnTo>
                    <a:pt x="80" y="72"/>
                  </a:lnTo>
                  <a:lnTo>
                    <a:pt x="84" y="64"/>
                  </a:lnTo>
                  <a:lnTo>
                    <a:pt x="88" y="56"/>
                  </a:lnTo>
                  <a:lnTo>
                    <a:pt x="88" y="46"/>
                  </a:lnTo>
                  <a:lnTo>
                    <a:pt x="88" y="36"/>
                  </a:lnTo>
                  <a:lnTo>
                    <a:pt x="86" y="28"/>
                  </a:lnTo>
                  <a:lnTo>
                    <a:pt x="82" y="20"/>
                  </a:lnTo>
                  <a:lnTo>
                    <a:pt x="76" y="14"/>
                  </a:lnTo>
                  <a:lnTo>
                    <a:pt x="70" y="8"/>
                  </a:lnTo>
                  <a:lnTo>
                    <a:pt x="62" y="4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38" y="2"/>
                  </a:lnTo>
                  <a:lnTo>
                    <a:pt x="28" y="6"/>
                  </a:lnTo>
                  <a:lnTo>
                    <a:pt x="22" y="10"/>
                  </a:lnTo>
                  <a:lnTo>
                    <a:pt x="14" y="16"/>
                  </a:lnTo>
                  <a:lnTo>
                    <a:pt x="8" y="24"/>
                  </a:lnTo>
                  <a:lnTo>
                    <a:pt x="4" y="32"/>
                  </a:lnTo>
                  <a:lnTo>
                    <a:pt x="0" y="46"/>
                  </a:lnTo>
                  <a:lnTo>
                    <a:pt x="0" y="60"/>
                  </a:lnTo>
                  <a:lnTo>
                    <a:pt x="4" y="74"/>
                  </a:lnTo>
                  <a:lnTo>
                    <a:pt x="12" y="84"/>
                  </a:lnTo>
                  <a:lnTo>
                    <a:pt x="28" y="78"/>
                  </a:lnTo>
                  <a:lnTo>
                    <a:pt x="5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8" name="Freeform 15"/>
            <p:cNvSpPr>
              <a:spLocks/>
            </p:cNvSpPr>
            <p:nvPr/>
          </p:nvSpPr>
          <p:spPr bwMode="auto">
            <a:xfrm>
              <a:off x="4793" y="1708"/>
              <a:ext cx="90" cy="86"/>
            </a:xfrm>
            <a:custGeom>
              <a:avLst/>
              <a:gdLst>
                <a:gd name="T0" fmla="*/ 24 w 90"/>
                <a:gd name="T1" fmla="*/ 86 h 86"/>
                <a:gd name="T2" fmla="*/ 24 w 90"/>
                <a:gd name="T3" fmla="*/ 86 h 86"/>
                <a:gd name="T4" fmla="*/ 44 w 90"/>
                <a:gd name="T5" fmla="*/ 82 h 86"/>
                <a:gd name="T6" fmla="*/ 66 w 90"/>
                <a:gd name="T7" fmla="*/ 78 h 86"/>
                <a:gd name="T8" fmla="*/ 66 w 90"/>
                <a:gd name="T9" fmla="*/ 78 h 86"/>
                <a:gd name="T10" fmla="*/ 84 w 90"/>
                <a:gd name="T11" fmla="*/ 76 h 86"/>
                <a:gd name="T12" fmla="*/ 84 w 90"/>
                <a:gd name="T13" fmla="*/ 76 h 86"/>
                <a:gd name="T14" fmla="*/ 88 w 90"/>
                <a:gd name="T15" fmla="*/ 64 h 86"/>
                <a:gd name="T16" fmla="*/ 90 w 90"/>
                <a:gd name="T17" fmla="*/ 52 h 86"/>
                <a:gd name="T18" fmla="*/ 88 w 90"/>
                <a:gd name="T19" fmla="*/ 38 h 86"/>
                <a:gd name="T20" fmla="*/ 82 w 90"/>
                <a:gd name="T21" fmla="*/ 26 h 86"/>
                <a:gd name="T22" fmla="*/ 82 w 90"/>
                <a:gd name="T23" fmla="*/ 26 h 86"/>
                <a:gd name="T24" fmla="*/ 76 w 90"/>
                <a:gd name="T25" fmla="*/ 18 h 86"/>
                <a:gd name="T26" fmla="*/ 70 w 90"/>
                <a:gd name="T27" fmla="*/ 10 h 86"/>
                <a:gd name="T28" fmla="*/ 62 w 90"/>
                <a:gd name="T29" fmla="*/ 6 h 86"/>
                <a:gd name="T30" fmla="*/ 54 w 90"/>
                <a:gd name="T31" fmla="*/ 2 h 86"/>
                <a:gd name="T32" fmla="*/ 46 w 90"/>
                <a:gd name="T33" fmla="*/ 0 h 86"/>
                <a:gd name="T34" fmla="*/ 36 w 90"/>
                <a:gd name="T35" fmla="*/ 0 h 86"/>
                <a:gd name="T36" fmla="*/ 28 w 90"/>
                <a:gd name="T37" fmla="*/ 2 h 86"/>
                <a:gd name="T38" fmla="*/ 20 w 90"/>
                <a:gd name="T39" fmla="*/ 4 h 86"/>
                <a:gd name="T40" fmla="*/ 20 w 90"/>
                <a:gd name="T41" fmla="*/ 4 h 86"/>
                <a:gd name="T42" fmla="*/ 14 w 90"/>
                <a:gd name="T43" fmla="*/ 10 h 86"/>
                <a:gd name="T44" fmla="*/ 8 w 90"/>
                <a:gd name="T45" fmla="*/ 16 h 86"/>
                <a:gd name="T46" fmla="*/ 4 w 90"/>
                <a:gd name="T47" fmla="*/ 24 h 86"/>
                <a:gd name="T48" fmla="*/ 2 w 90"/>
                <a:gd name="T49" fmla="*/ 32 h 86"/>
                <a:gd name="T50" fmla="*/ 0 w 90"/>
                <a:gd name="T51" fmla="*/ 42 h 86"/>
                <a:gd name="T52" fmla="*/ 0 w 90"/>
                <a:gd name="T53" fmla="*/ 50 h 86"/>
                <a:gd name="T54" fmla="*/ 4 w 90"/>
                <a:gd name="T55" fmla="*/ 60 h 86"/>
                <a:gd name="T56" fmla="*/ 8 w 90"/>
                <a:gd name="T57" fmla="*/ 68 h 86"/>
                <a:gd name="T58" fmla="*/ 8 w 90"/>
                <a:gd name="T59" fmla="*/ 68 h 86"/>
                <a:gd name="T60" fmla="*/ 16 w 90"/>
                <a:gd name="T61" fmla="*/ 78 h 86"/>
                <a:gd name="T62" fmla="*/ 24 w 90"/>
                <a:gd name="T63" fmla="*/ 86 h 86"/>
                <a:gd name="T64" fmla="*/ 24 w 90"/>
                <a:gd name="T65" fmla="*/ 86 h 8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0"/>
                <a:gd name="T100" fmla="*/ 0 h 86"/>
                <a:gd name="T101" fmla="*/ 90 w 90"/>
                <a:gd name="T102" fmla="*/ 86 h 8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0" h="86">
                  <a:moveTo>
                    <a:pt x="24" y="86"/>
                  </a:moveTo>
                  <a:lnTo>
                    <a:pt x="24" y="86"/>
                  </a:lnTo>
                  <a:lnTo>
                    <a:pt x="44" y="82"/>
                  </a:lnTo>
                  <a:lnTo>
                    <a:pt x="66" y="78"/>
                  </a:lnTo>
                  <a:lnTo>
                    <a:pt x="84" y="76"/>
                  </a:lnTo>
                  <a:lnTo>
                    <a:pt x="88" y="64"/>
                  </a:lnTo>
                  <a:lnTo>
                    <a:pt x="90" y="52"/>
                  </a:lnTo>
                  <a:lnTo>
                    <a:pt x="88" y="38"/>
                  </a:lnTo>
                  <a:lnTo>
                    <a:pt x="82" y="26"/>
                  </a:lnTo>
                  <a:lnTo>
                    <a:pt x="76" y="18"/>
                  </a:lnTo>
                  <a:lnTo>
                    <a:pt x="70" y="10"/>
                  </a:lnTo>
                  <a:lnTo>
                    <a:pt x="62" y="6"/>
                  </a:lnTo>
                  <a:lnTo>
                    <a:pt x="54" y="2"/>
                  </a:lnTo>
                  <a:lnTo>
                    <a:pt x="46" y="0"/>
                  </a:lnTo>
                  <a:lnTo>
                    <a:pt x="36" y="0"/>
                  </a:lnTo>
                  <a:lnTo>
                    <a:pt x="28" y="2"/>
                  </a:lnTo>
                  <a:lnTo>
                    <a:pt x="20" y="4"/>
                  </a:lnTo>
                  <a:lnTo>
                    <a:pt x="14" y="10"/>
                  </a:lnTo>
                  <a:lnTo>
                    <a:pt x="8" y="16"/>
                  </a:lnTo>
                  <a:lnTo>
                    <a:pt x="4" y="24"/>
                  </a:lnTo>
                  <a:lnTo>
                    <a:pt x="2" y="32"/>
                  </a:lnTo>
                  <a:lnTo>
                    <a:pt x="0" y="42"/>
                  </a:lnTo>
                  <a:lnTo>
                    <a:pt x="0" y="50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6" y="78"/>
                  </a:lnTo>
                  <a:lnTo>
                    <a:pt x="24" y="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999" name="Freeform 16"/>
            <p:cNvSpPr>
              <a:spLocks/>
            </p:cNvSpPr>
            <p:nvPr/>
          </p:nvSpPr>
          <p:spPr bwMode="auto">
            <a:xfrm>
              <a:off x="4585" y="1772"/>
              <a:ext cx="40" cy="62"/>
            </a:xfrm>
            <a:custGeom>
              <a:avLst/>
              <a:gdLst>
                <a:gd name="T0" fmla="*/ 40 w 40"/>
                <a:gd name="T1" fmla="*/ 28 h 62"/>
                <a:gd name="T2" fmla="*/ 40 w 40"/>
                <a:gd name="T3" fmla="*/ 28 h 62"/>
                <a:gd name="T4" fmla="*/ 36 w 40"/>
                <a:gd name="T5" fmla="*/ 16 h 62"/>
                <a:gd name="T6" fmla="*/ 30 w 40"/>
                <a:gd name="T7" fmla="*/ 8 h 62"/>
                <a:gd name="T8" fmla="*/ 24 w 40"/>
                <a:gd name="T9" fmla="*/ 2 h 62"/>
                <a:gd name="T10" fmla="*/ 20 w 40"/>
                <a:gd name="T11" fmla="*/ 0 h 62"/>
                <a:gd name="T12" fmla="*/ 16 w 40"/>
                <a:gd name="T13" fmla="*/ 0 h 62"/>
                <a:gd name="T14" fmla="*/ 16 w 40"/>
                <a:gd name="T15" fmla="*/ 0 h 62"/>
                <a:gd name="T16" fmla="*/ 12 w 40"/>
                <a:gd name="T17" fmla="*/ 2 h 62"/>
                <a:gd name="T18" fmla="*/ 8 w 40"/>
                <a:gd name="T19" fmla="*/ 4 h 62"/>
                <a:gd name="T20" fmla="*/ 2 w 40"/>
                <a:gd name="T21" fmla="*/ 12 h 62"/>
                <a:gd name="T22" fmla="*/ 0 w 40"/>
                <a:gd name="T23" fmla="*/ 22 h 62"/>
                <a:gd name="T24" fmla="*/ 0 w 40"/>
                <a:gd name="T25" fmla="*/ 34 h 62"/>
                <a:gd name="T26" fmla="*/ 0 w 40"/>
                <a:gd name="T27" fmla="*/ 34 h 62"/>
                <a:gd name="T28" fmla="*/ 2 w 40"/>
                <a:gd name="T29" fmla="*/ 44 h 62"/>
                <a:gd name="T30" fmla="*/ 8 w 40"/>
                <a:gd name="T31" fmla="*/ 54 h 62"/>
                <a:gd name="T32" fmla="*/ 16 w 40"/>
                <a:gd name="T33" fmla="*/ 60 h 62"/>
                <a:gd name="T34" fmla="*/ 20 w 40"/>
                <a:gd name="T35" fmla="*/ 60 h 62"/>
                <a:gd name="T36" fmla="*/ 24 w 40"/>
                <a:gd name="T37" fmla="*/ 62 h 62"/>
                <a:gd name="T38" fmla="*/ 24 w 40"/>
                <a:gd name="T39" fmla="*/ 62 h 62"/>
                <a:gd name="T40" fmla="*/ 28 w 40"/>
                <a:gd name="T41" fmla="*/ 60 h 62"/>
                <a:gd name="T42" fmla="*/ 30 w 40"/>
                <a:gd name="T43" fmla="*/ 58 h 62"/>
                <a:gd name="T44" fmla="*/ 36 w 40"/>
                <a:gd name="T45" fmla="*/ 50 h 62"/>
                <a:gd name="T46" fmla="*/ 40 w 40"/>
                <a:gd name="T47" fmla="*/ 40 h 62"/>
                <a:gd name="T48" fmla="*/ 40 w 40"/>
                <a:gd name="T49" fmla="*/ 28 h 62"/>
                <a:gd name="T50" fmla="*/ 40 w 40"/>
                <a:gd name="T51" fmla="*/ 28 h 6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"/>
                <a:gd name="T79" fmla="*/ 0 h 62"/>
                <a:gd name="T80" fmla="*/ 40 w 40"/>
                <a:gd name="T81" fmla="*/ 62 h 6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" h="62">
                  <a:moveTo>
                    <a:pt x="40" y="28"/>
                  </a:moveTo>
                  <a:lnTo>
                    <a:pt x="40" y="28"/>
                  </a:lnTo>
                  <a:lnTo>
                    <a:pt x="36" y="16"/>
                  </a:lnTo>
                  <a:lnTo>
                    <a:pt x="30" y="8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4"/>
                  </a:lnTo>
                  <a:lnTo>
                    <a:pt x="2" y="12"/>
                  </a:lnTo>
                  <a:lnTo>
                    <a:pt x="0" y="22"/>
                  </a:lnTo>
                  <a:lnTo>
                    <a:pt x="0" y="34"/>
                  </a:lnTo>
                  <a:lnTo>
                    <a:pt x="2" y="44"/>
                  </a:lnTo>
                  <a:lnTo>
                    <a:pt x="8" y="54"/>
                  </a:lnTo>
                  <a:lnTo>
                    <a:pt x="16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8" y="60"/>
                  </a:lnTo>
                  <a:lnTo>
                    <a:pt x="30" y="58"/>
                  </a:lnTo>
                  <a:lnTo>
                    <a:pt x="36" y="50"/>
                  </a:lnTo>
                  <a:lnTo>
                    <a:pt x="40" y="40"/>
                  </a:lnTo>
                  <a:lnTo>
                    <a:pt x="40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0" name="Freeform 17"/>
            <p:cNvSpPr>
              <a:spLocks/>
            </p:cNvSpPr>
            <p:nvPr/>
          </p:nvSpPr>
          <p:spPr bwMode="auto">
            <a:xfrm>
              <a:off x="4819" y="1744"/>
              <a:ext cx="40" cy="60"/>
            </a:xfrm>
            <a:custGeom>
              <a:avLst/>
              <a:gdLst>
                <a:gd name="T0" fmla="*/ 40 w 40"/>
                <a:gd name="T1" fmla="*/ 26 h 60"/>
                <a:gd name="T2" fmla="*/ 40 w 40"/>
                <a:gd name="T3" fmla="*/ 26 h 60"/>
                <a:gd name="T4" fmla="*/ 36 w 40"/>
                <a:gd name="T5" fmla="*/ 16 h 60"/>
                <a:gd name="T6" fmla="*/ 32 w 40"/>
                <a:gd name="T7" fmla="*/ 6 h 60"/>
                <a:gd name="T8" fmla="*/ 24 w 40"/>
                <a:gd name="T9" fmla="*/ 0 h 60"/>
                <a:gd name="T10" fmla="*/ 20 w 40"/>
                <a:gd name="T11" fmla="*/ 0 h 60"/>
                <a:gd name="T12" fmla="*/ 16 w 40"/>
                <a:gd name="T13" fmla="*/ 0 h 60"/>
                <a:gd name="T14" fmla="*/ 16 w 40"/>
                <a:gd name="T15" fmla="*/ 0 h 60"/>
                <a:gd name="T16" fmla="*/ 12 w 40"/>
                <a:gd name="T17" fmla="*/ 0 h 60"/>
                <a:gd name="T18" fmla="*/ 8 w 40"/>
                <a:gd name="T19" fmla="*/ 2 h 60"/>
                <a:gd name="T20" fmla="*/ 4 w 40"/>
                <a:gd name="T21" fmla="*/ 10 h 60"/>
                <a:gd name="T22" fmla="*/ 0 w 40"/>
                <a:gd name="T23" fmla="*/ 20 h 60"/>
                <a:gd name="T24" fmla="*/ 0 w 40"/>
                <a:gd name="T25" fmla="*/ 32 h 60"/>
                <a:gd name="T26" fmla="*/ 0 w 40"/>
                <a:gd name="T27" fmla="*/ 32 h 60"/>
                <a:gd name="T28" fmla="*/ 4 w 40"/>
                <a:gd name="T29" fmla="*/ 44 h 60"/>
                <a:gd name="T30" fmla="*/ 8 w 40"/>
                <a:gd name="T31" fmla="*/ 52 h 60"/>
                <a:gd name="T32" fmla="*/ 16 w 40"/>
                <a:gd name="T33" fmla="*/ 58 h 60"/>
                <a:gd name="T34" fmla="*/ 20 w 40"/>
                <a:gd name="T35" fmla="*/ 60 h 60"/>
                <a:gd name="T36" fmla="*/ 24 w 40"/>
                <a:gd name="T37" fmla="*/ 60 h 60"/>
                <a:gd name="T38" fmla="*/ 24 w 40"/>
                <a:gd name="T39" fmla="*/ 60 h 60"/>
                <a:gd name="T40" fmla="*/ 28 w 40"/>
                <a:gd name="T41" fmla="*/ 58 h 60"/>
                <a:gd name="T42" fmla="*/ 32 w 40"/>
                <a:gd name="T43" fmla="*/ 56 h 60"/>
                <a:gd name="T44" fmla="*/ 38 w 40"/>
                <a:gd name="T45" fmla="*/ 50 h 60"/>
                <a:gd name="T46" fmla="*/ 40 w 40"/>
                <a:gd name="T47" fmla="*/ 38 h 60"/>
                <a:gd name="T48" fmla="*/ 40 w 40"/>
                <a:gd name="T49" fmla="*/ 26 h 60"/>
                <a:gd name="T50" fmla="*/ 40 w 40"/>
                <a:gd name="T51" fmla="*/ 26 h 6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"/>
                <a:gd name="T79" fmla="*/ 0 h 60"/>
                <a:gd name="T80" fmla="*/ 40 w 40"/>
                <a:gd name="T81" fmla="*/ 60 h 60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" h="60">
                  <a:moveTo>
                    <a:pt x="40" y="26"/>
                  </a:moveTo>
                  <a:lnTo>
                    <a:pt x="40" y="26"/>
                  </a:lnTo>
                  <a:lnTo>
                    <a:pt x="36" y="16"/>
                  </a:lnTo>
                  <a:lnTo>
                    <a:pt x="32" y="6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2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0" y="32"/>
                  </a:lnTo>
                  <a:lnTo>
                    <a:pt x="4" y="44"/>
                  </a:lnTo>
                  <a:lnTo>
                    <a:pt x="8" y="52"/>
                  </a:lnTo>
                  <a:lnTo>
                    <a:pt x="16" y="58"/>
                  </a:lnTo>
                  <a:lnTo>
                    <a:pt x="20" y="60"/>
                  </a:lnTo>
                  <a:lnTo>
                    <a:pt x="24" y="60"/>
                  </a:lnTo>
                  <a:lnTo>
                    <a:pt x="28" y="58"/>
                  </a:lnTo>
                  <a:lnTo>
                    <a:pt x="32" y="56"/>
                  </a:lnTo>
                  <a:lnTo>
                    <a:pt x="38" y="50"/>
                  </a:lnTo>
                  <a:lnTo>
                    <a:pt x="40" y="38"/>
                  </a:lnTo>
                  <a:lnTo>
                    <a:pt x="40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1" name="Freeform 18"/>
            <p:cNvSpPr>
              <a:spLocks/>
            </p:cNvSpPr>
            <p:nvPr/>
          </p:nvSpPr>
          <p:spPr bwMode="auto">
            <a:xfrm>
              <a:off x="4599" y="1956"/>
              <a:ext cx="44" cy="12"/>
            </a:xfrm>
            <a:custGeom>
              <a:avLst/>
              <a:gdLst>
                <a:gd name="T0" fmla="*/ 20 w 44"/>
                <a:gd name="T1" fmla="*/ 0 h 12"/>
                <a:gd name="T2" fmla="*/ 44 w 44"/>
                <a:gd name="T3" fmla="*/ 6 h 12"/>
                <a:gd name="T4" fmla="*/ 18 w 44"/>
                <a:gd name="T5" fmla="*/ 12 h 12"/>
                <a:gd name="T6" fmla="*/ 0 w 44"/>
                <a:gd name="T7" fmla="*/ 4 h 12"/>
                <a:gd name="T8" fmla="*/ 20 w 44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"/>
                <a:gd name="T16" fmla="*/ 0 h 12"/>
                <a:gd name="T17" fmla="*/ 44 w 44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" h="12">
                  <a:moveTo>
                    <a:pt x="20" y="0"/>
                  </a:moveTo>
                  <a:lnTo>
                    <a:pt x="44" y="6"/>
                  </a:lnTo>
                  <a:lnTo>
                    <a:pt x="18" y="12"/>
                  </a:lnTo>
                  <a:lnTo>
                    <a:pt x="0" y="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2" name="Freeform 19"/>
            <p:cNvSpPr>
              <a:spLocks/>
            </p:cNvSpPr>
            <p:nvPr/>
          </p:nvSpPr>
          <p:spPr bwMode="auto">
            <a:xfrm>
              <a:off x="4615" y="1868"/>
              <a:ext cx="216" cy="24"/>
            </a:xfrm>
            <a:custGeom>
              <a:avLst/>
              <a:gdLst>
                <a:gd name="T0" fmla="*/ 216 w 216"/>
                <a:gd name="T1" fmla="*/ 24 h 24"/>
                <a:gd name="T2" fmla="*/ 216 w 216"/>
                <a:gd name="T3" fmla="*/ 24 h 24"/>
                <a:gd name="T4" fmla="*/ 196 w 216"/>
                <a:gd name="T5" fmla="*/ 16 h 24"/>
                <a:gd name="T6" fmla="*/ 174 w 216"/>
                <a:gd name="T7" fmla="*/ 10 h 24"/>
                <a:gd name="T8" fmla="*/ 144 w 216"/>
                <a:gd name="T9" fmla="*/ 4 h 24"/>
                <a:gd name="T10" fmla="*/ 112 w 216"/>
                <a:gd name="T11" fmla="*/ 0 h 24"/>
                <a:gd name="T12" fmla="*/ 94 w 216"/>
                <a:gd name="T13" fmla="*/ 0 h 24"/>
                <a:gd name="T14" fmla="*/ 76 w 216"/>
                <a:gd name="T15" fmla="*/ 2 h 24"/>
                <a:gd name="T16" fmla="*/ 56 w 216"/>
                <a:gd name="T17" fmla="*/ 4 h 24"/>
                <a:gd name="T18" fmla="*/ 38 w 216"/>
                <a:gd name="T19" fmla="*/ 8 h 24"/>
                <a:gd name="T20" fmla="*/ 18 w 216"/>
                <a:gd name="T21" fmla="*/ 14 h 24"/>
                <a:gd name="T22" fmla="*/ 0 w 216"/>
                <a:gd name="T23" fmla="*/ 22 h 24"/>
                <a:gd name="T24" fmla="*/ 0 w 216"/>
                <a:gd name="T25" fmla="*/ 22 h 24"/>
                <a:gd name="T26" fmla="*/ 16 w 216"/>
                <a:gd name="T27" fmla="*/ 20 h 24"/>
                <a:gd name="T28" fmla="*/ 62 w 216"/>
                <a:gd name="T29" fmla="*/ 16 h 24"/>
                <a:gd name="T30" fmla="*/ 94 w 216"/>
                <a:gd name="T31" fmla="*/ 14 h 24"/>
                <a:gd name="T32" fmla="*/ 130 w 216"/>
                <a:gd name="T33" fmla="*/ 16 h 24"/>
                <a:gd name="T34" fmla="*/ 172 w 216"/>
                <a:gd name="T35" fmla="*/ 18 h 24"/>
                <a:gd name="T36" fmla="*/ 216 w 216"/>
                <a:gd name="T37" fmla="*/ 24 h 24"/>
                <a:gd name="T38" fmla="*/ 216 w 216"/>
                <a:gd name="T39" fmla="*/ 24 h 2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16"/>
                <a:gd name="T61" fmla="*/ 0 h 24"/>
                <a:gd name="T62" fmla="*/ 216 w 216"/>
                <a:gd name="T63" fmla="*/ 24 h 2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16" h="24">
                  <a:moveTo>
                    <a:pt x="216" y="24"/>
                  </a:moveTo>
                  <a:lnTo>
                    <a:pt x="216" y="24"/>
                  </a:lnTo>
                  <a:lnTo>
                    <a:pt x="196" y="16"/>
                  </a:lnTo>
                  <a:lnTo>
                    <a:pt x="174" y="10"/>
                  </a:lnTo>
                  <a:lnTo>
                    <a:pt x="144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6" y="2"/>
                  </a:lnTo>
                  <a:lnTo>
                    <a:pt x="56" y="4"/>
                  </a:lnTo>
                  <a:lnTo>
                    <a:pt x="38" y="8"/>
                  </a:lnTo>
                  <a:lnTo>
                    <a:pt x="18" y="14"/>
                  </a:lnTo>
                  <a:lnTo>
                    <a:pt x="0" y="22"/>
                  </a:lnTo>
                  <a:lnTo>
                    <a:pt x="16" y="20"/>
                  </a:lnTo>
                  <a:lnTo>
                    <a:pt x="62" y="16"/>
                  </a:lnTo>
                  <a:lnTo>
                    <a:pt x="94" y="14"/>
                  </a:lnTo>
                  <a:lnTo>
                    <a:pt x="130" y="16"/>
                  </a:lnTo>
                  <a:lnTo>
                    <a:pt x="172" y="18"/>
                  </a:lnTo>
                  <a:lnTo>
                    <a:pt x="216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3" name="Freeform 20"/>
            <p:cNvSpPr>
              <a:spLocks/>
            </p:cNvSpPr>
            <p:nvPr/>
          </p:nvSpPr>
          <p:spPr bwMode="auto">
            <a:xfrm>
              <a:off x="5015" y="1542"/>
              <a:ext cx="174" cy="448"/>
            </a:xfrm>
            <a:custGeom>
              <a:avLst/>
              <a:gdLst>
                <a:gd name="T0" fmla="*/ 42 w 174"/>
                <a:gd name="T1" fmla="*/ 340 h 448"/>
                <a:gd name="T2" fmla="*/ 42 w 174"/>
                <a:gd name="T3" fmla="*/ 340 h 448"/>
                <a:gd name="T4" fmla="*/ 58 w 174"/>
                <a:gd name="T5" fmla="*/ 320 h 448"/>
                <a:gd name="T6" fmla="*/ 94 w 174"/>
                <a:gd name="T7" fmla="*/ 278 h 448"/>
                <a:gd name="T8" fmla="*/ 114 w 174"/>
                <a:gd name="T9" fmla="*/ 252 h 448"/>
                <a:gd name="T10" fmla="*/ 130 w 174"/>
                <a:gd name="T11" fmla="*/ 230 h 448"/>
                <a:gd name="T12" fmla="*/ 140 w 174"/>
                <a:gd name="T13" fmla="*/ 214 h 448"/>
                <a:gd name="T14" fmla="*/ 142 w 174"/>
                <a:gd name="T15" fmla="*/ 206 h 448"/>
                <a:gd name="T16" fmla="*/ 140 w 174"/>
                <a:gd name="T17" fmla="*/ 202 h 448"/>
                <a:gd name="T18" fmla="*/ 140 w 174"/>
                <a:gd name="T19" fmla="*/ 202 h 448"/>
                <a:gd name="T20" fmla="*/ 136 w 174"/>
                <a:gd name="T21" fmla="*/ 180 h 448"/>
                <a:gd name="T22" fmla="*/ 132 w 174"/>
                <a:gd name="T23" fmla="*/ 156 h 448"/>
                <a:gd name="T24" fmla="*/ 124 w 174"/>
                <a:gd name="T25" fmla="*/ 128 h 448"/>
                <a:gd name="T26" fmla="*/ 116 w 174"/>
                <a:gd name="T27" fmla="*/ 100 h 448"/>
                <a:gd name="T28" fmla="*/ 104 w 174"/>
                <a:gd name="T29" fmla="*/ 76 h 448"/>
                <a:gd name="T30" fmla="*/ 96 w 174"/>
                <a:gd name="T31" fmla="*/ 66 h 448"/>
                <a:gd name="T32" fmla="*/ 90 w 174"/>
                <a:gd name="T33" fmla="*/ 56 h 448"/>
                <a:gd name="T34" fmla="*/ 82 w 174"/>
                <a:gd name="T35" fmla="*/ 50 h 448"/>
                <a:gd name="T36" fmla="*/ 72 w 174"/>
                <a:gd name="T37" fmla="*/ 48 h 448"/>
                <a:gd name="T38" fmla="*/ 72 w 174"/>
                <a:gd name="T39" fmla="*/ 48 h 448"/>
                <a:gd name="T40" fmla="*/ 70 w 174"/>
                <a:gd name="T41" fmla="*/ 52 h 448"/>
                <a:gd name="T42" fmla="*/ 60 w 174"/>
                <a:gd name="T43" fmla="*/ 58 h 448"/>
                <a:gd name="T44" fmla="*/ 54 w 174"/>
                <a:gd name="T45" fmla="*/ 62 h 448"/>
                <a:gd name="T46" fmla="*/ 48 w 174"/>
                <a:gd name="T47" fmla="*/ 62 h 448"/>
                <a:gd name="T48" fmla="*/ 40 w 174"/>
                <a:gd name="T49" fmla="*/ 60 h 448"/>
                <a:gd name="T50" fmla="*/ 34 w 174"/>
                <a:gd name="T51" fmla="*/ 54 h 448"/>
                <a:gd name="T52" fmla="*/ 0 w 174"/>
                <a:gd name="T53" fmla="*/ 54 h 448"/>
                <a:gd name="T54" fmla="*/ 0 w 174"/>
                <a:gd name="T55" fmla="*/ 54 h 448"/>
                <a:gd name="T56" fmla="*/ 0 w 174"/>
                <a:gd name="T57" fmla="*/ 46 h 448"/>
                <a:gd name="T58" fmla="*/ 0 w 174"/>
                <a:gd name="T59" fmla="*/ 38 h 448"/>
                <a:gd name="T60" fmla="*/ 4 w 174"/>
                <a:gd name="T61" fmla="*/ 30 h 448"/>
                <a:gd name="T62" fmla="*/ 10 w 174"/>
                <a:gd name="T63" fmla="*/ 20 h 448"/>
                <a:gd name="T64" fmla="*/ 22 w 174"/>
                <a:gd name="T65" fmla="*/ 12 h 448"/>
                <a:gd name="T66" fmla="*/ 40 w 174"/>
                <a:gd name="T67" fmla="*/ 4 h 448"/>
                <a:gd name="T68" fmla="*/ 64 w 174"/>
                <a:gd name="T69" fmla="*/ 0 h 448"/>
                <a:gd name="T70" fmla="*/ 118 w 174"/>
                <a:gd name="T71" fmla="*/ 36 h 448"/>
                <a:gd name="T72" fmla="*/ 118 w 174"/>
                <a:gd name="T73" fmla="*/ 36 h 448"/>
                <a:gd name="T74" fmla="*/ 132 w 174"/>
                <a:gd name="T75" fmla="*/ 64 h 448"/>
                <a:gd name="T76" fmla="*/ 144 w 174"/>
                <a:gd name="T77" fmla="*/ 94 h 448"/>
                <a:gd name="T78" fmla="*/ 158 w 174"/>
                <a:gd name="T79" fmla="*/ 128 h 448"/>
                <a:gd name="T80" fmla="*/ 168 w 174"/>
                <a:gd name="T81" fmla="*/ 164 h 448"/>
                <a:gd name="T82" fmla="*/ 172 w 174"/>
                <a:gd name="T83" fmla="*/ 182 h 448"/>
                <a:gd name="T84" fmla="*/ 174 w 174"/>
                <a:gd name="T85" fmla="*/ 200 h 448"/>
                <a:gd name="T86" fmla="*/ 174 w 174"/>
                <a:gd name="T87" fmla="*/ 214 h 448"/>
                <a:gd name="T88" fmla="*/ 174 w 174"/>
                <a:gd name="T89" fmla="*/ 228 h 448"/>
                <a:gd name="T90" fmla="*/ 170 w 174"/>
                <a:gd name="T91" fmla="*/ 240 h 448"/>
                <a:gd name="T92" fmla="*/ 162 w 174"/>
                <a:gd name="T93" fmla="*/ 248 h 448"/>
                <a:gd name="T94" fmla="*/ 36 w 174"/>
                <a:gd name="T95" fmla="*/ 448 h 448"/>
                <a:gd name="T96" fmla="*/ 42 w 174"/>
                <a:gd name="T97" fmla="*/ 340 h 44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74"/>
                <a:gd name="T148" fmla="*/ 0 h 448"/>
                <a:gd name="T149" fmla="*/ 174 w 174"/>
                <a:gd name="T150" fmla="*/ 448 h 44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74" h="448">
                  <a:moveTo>
                    <a:pt x="42" y="340"/>
                  </a:moveTo>
                  <a:lnTo>
                    <a:pt x="42" y="340"/>
                  </a:lnTo>
                  <a:lnTo>
                    <a:pt x="58" y="320"/>
                  </a:lnTo>
                  <a:lnTo>
                    <a:pt x="94" y="278"/>
                  </a:lnTo>
                  <a:lnTo>
                    <a:pt x="114" y="252"/>
                  </a:lnTo>
                  <a:lnTo>
                    <a:pt x="130" y="230"/>
                  </a:lnTo>
                  <a:lnTo>
                    <a:pt x="140" y="214"/>
                  </a:lnTo>
                  <a:lnTo>
                    <a:pt x="142" y="206"/>
                  </a:lnTo>
                  <a:lnTo>
                    <a:pt x="140" y="202"/>
                  </a:lnTo>
                  <a:lnTo>
                    <a:pt x="136" y="180"/>
                  </a:lnTo>
                  <a:lnTo>
                    <a:pt x="132" y="156"/>
                  </a:lnTo>
                  <a:lnTo>
                    <a:pt x="124" y="128"/>
                  </a:lnTo>
                  <a:lnTo>
                    <a:pt x="116" y="100"/>
                  </a:lnTo>
                  <a:lnTo>
                    <a:pt x="104" y="76"/>
                  </a:lnTo>
                  <a:lnTo>
                    <a:pt x="96" y="66"/>
                  </a:lnTo>
                  <a:lnTo>
                    <a:pt x="90" y="56"/>
                  </a:lnTo>
                  <a:lnTo>
                    <a:pt x="82" y="50"/>
                  </a:lnTo>
                  <a:lnTo>
                    <a:pt x="72" y="48"/>
                  </a:lnTo>
                  <a:lnTo>
                    <a:pt x="70" y="52"/>
                  </a:lnTo>
                  <a:lnTo>
                    <a:pt x="60" y="58"/>
                  </a:lnTo>
                  <a:lnTo>
                    <a:pt x="54" y="62"/>
                  </a:lnTo>
                  <a:lnTo>
                    <a:pt x="48" y="62"/>
                  </a:lnTo>
                  <a:lnTo>
                    <a:pt x="40" y="60"/>
                  </a:lnTo>
                  <a:lnTo>
                    <a:pt x="34" y="54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0" y="38"/>
                  </a:lnTo>
                  <a:lnTo>
                    <a:pt x="4" y="30"/>
                  </a:lnTo>
                  <a:lnTo>
                    <a:pt x="10" y="20"/>
                  </a:lnTo>
                  <a:lnTo>
                    <a:pt x="22" y="12"/>
                  </a:lnTo>
                  <a:lnTo>
                    <a:pt x="40" y="4"/>
                  </a:lnTo>
                  <a:lnTo>
                    <a:pt x="64" y="0"/>
                  </a:lnTo>
                  <a:lnTo>
                    <a:pt x="118" y="36"/>
                  </a:lnTo>
                  <a:lnTo>
                    <a:pt x="132" y="64"/>
                  </a:lnTo>
                  <a:lnTo>
                    <a:pt x="144" y="94"/>
                  </a:lnTo>
                  <a:lnTo>
                    <a:pt x="158" y="128"/>
                  </a:lnTo>
                  <a:lnTo>
                    <a:pt x="168" y="164"/>
                  </a:lnTo>
                  <a:lnTo>
                    <a:pt x="172" y="182"/>
                  </a:lnTo>
                  <a:lnTo>
                    <a:pt x="174" y="200"/>
                  </a:lnTo>
                  <a:lnTo>
                    <a:pt x="174" y="214"/>
                  </a:lnTo>
                  <a:lnTo>
                    <a:pt x="174" y="228"/>
                  </a:lnTo>
                  <a:lnTo>
                    <a:pt x="170" y="240"/>
                  </a:lnTo>
                  <a:lnTo>
                    <a:pt x="162" y="248"/>
                  </a:lnTo>
                  <a:lnTo>
                    <a:pt x="36" y="448"/>
                  </a:lnTo>
                  <a:lnTo>
                    <a:pt x="42" y="3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4" name="Freeform 24"/>
            <p:cNvSpPr>
              <a:spLocks/>
            </p:cNvSpPr>
            <p:nvPr/>
          </p:nvSpPr>
          <p:spPr bwMode="auto">
            <a:xfrm>
              <a:off x="4445" y="1912"/>
              <a:ext cx="230" cy="146"/>
            </a:xfrm>
            <a:custGeom>
              <a:avLst/>
              <a:gdLst>
                <a:gd name="T0" fmla="*/ 230 w 230"/>
                <a:gd name="T1" fmla="*/ 142 h 146"/>
                <a:gd name="T2" fmla="*/ 230 w 230"/>
                <a:gd name="T3" fmla="*/ 142 h 146"/>
                <a:gd name="T4" fmla="*/ 156 w 230"/>
                <a:gd name="T5" fmla="*/ 144 h 146"/>
                <a:gd name="T6" fmla="*/ 82 w 230"/>
                <a:gd name="T7" fmla="*/ 146 h 146"/>
                <a:gd name="T8" fmla="*/ 82 w 230"/>
                <a:gd name="T9" fmla="*/ 146 h 146"/>
                <a:gd name="T10" fmla="*/ 66 w 230"/>
                <a:gd name="T11" fmla="*/ 146 h 146"/>
                <a:gd name="T12" fmla="*/ 42 w 230"/>
                <a:gd name="T13" fmla="*/ 144 h 146"/>
                <a:gd name="T14" fmla="*/ 20 w 230"/>
                <a:gd name="T15" fmla="*/ 138 h 146"/>
                <a:gd name="T16" fmla="*/ 12 w 230"/>
                <a:gd name="T17" fmla="*/ 134 h 146"/>
                <a:gd name="T18" fmla="*/ 4 w 230"/>
                <a:gd name="T19" fmla="*/ 130 h 146"/>
                <a:gd name="T20" fmla="*/ 4 w 230"/>
                <a:gd name="T21" fmla="*/ 130 h 146"/>
                <a:gd name="T22" fmla="*/ 2 w 230"/>
                <a:gd name="T23" fmla="*/ 124 h 146"/>
                <a:gd name="T24" fmla="*/ 0 w 230"/>
                <a:gd name="T25" fmla="*/ 120 h 146"/>
                <a:gd name="T26" fmla="*/ 2 w 230"/>
                <a:gd name="T27" fmla="*/ 112 h 146"/>
                <a:gd name="T28" fmla="*/ 4 w 230"/>
                <a:gd name="T29" fmla="*/ 104 h 146"/>
                <a:gd name="T30" fmla="*/ 10 w 230"/>
                <a:gd name="T31" fmla="*/ 88 h 146"/>
                <a:gd name="T32" fmla="*/ 20 w 230"/>
                <a:gd name="T33" fmla="*/ 68 h 146"/>
                <a:gd name="T34" fmla="*/ 32 w 230"/>
                <a:gd name="T35" fmla="*/ 50 h 146"/>
                <a:gd name="T36" fmla="*/ 46 w 230"/>
                <a:gd name="T37" fmla="*/ 34 h 146"/>
                <a:gd name="T38" fmla="*/ 66 w 230"/>
                <a:gd name="T39" fmla="*/ 10 h 146"/>
                <a:gd name="T40" fmla="*/ 66 w 230"/>
                <a:gd name="T41" fmla="*/ 10 h 146"/>
                <a:gd name="T42" fmla="*/ 72 w 230"/>
                <a:gd name="T43" fmla="*/ 4 h 146"/>
                <a:gd name="T44" fmla="*/ 78 w 230"/>
                <a:gd name="T45" fmla="*/ 2 h 146"/>
                <a:gd name="T46" fmla="*/ 84 w 230"/>
                <a:gd name="T47" fmla="*/ 0 h 146"/>
                <a:gd name="T48" fmla="*/ 90 w 230"/>
                <a:gd name="T49" fmla="*/ 0 h 146"/>
                <a:gd name="T50" fmla="*/ 102 w 230"/>
                <a:gd name="T51" fmla="*/ 2 h 146"/>
                <a:gd name="T52" fmla="*/ 110 w 230"/>
                <a:gd name="T53" fmla="*/ 8 h 146"/>
                <a:gd name="T54" fmla="*/ 116 w 230"/>
                <a:gd name="T55" fmla="*/ 18 h 146"/>
                <a:gd name="T56" fmla="*/ 116 w 230"/>
                <a:gd name="T57" fmla="*/ 22 h 146"/>
                <a:gd name="T58" fmla="*/ 116 w 230"/>
                <a:gd name="T59" fmla="*/ 26 h 146"/>
                <a:gd name="T60" fmla="*/ 114 w 230"/>
                <a:gd name="T61" fmla="*/ 32 h 146"/>
                <a:gd name="T62" fmla="*/ 112 w 230"/>
                <a:gd name="T63" fmla="*/ 36 h 146"/>
                <a:gd name="T64" fmla="*/ 108 w 230"/>
                <a:gd name="T65" fmla="*/ 40 h 146"/>
                <a:gd name="T66" fmla="*/ 102 w 230"/>
                <a:gd name="T67" fmla="*/ 42 h 146"/>
                <a:gd name="T68" fmla="*/ 102 w 230"/>
                <a:gd name="T69" fmla="*/ 42 h 146"/>
                <a:gd name="T70" fmla="*/ 96 w 230"/>
                <a:gd name="T71" fmla="*/ 44 h 146"/>
                <a:gd name="T72" fmla="*/ 90 w 230"/>
                <a:gd name="T73" fmla="*/ 44 h 146"/>
                <a:gd name="T74" fmla="*/ 80 w 230"/>
                <a:gd name="T75" fmla="*/ 44 h 146"/>
                <a:gd name="T76" fmla="*/ 76 w 230"/>
                <a:gd name="T77" fmla="*/ 44 h 146"/>
                <a:gd name="T78" fmla="*/ 72 w 230"/>
                <a:gd name="T79" fmla="*/ 46 h 146"/>
                <a:gd name="T80" fmla="*/ 66 w 230"/>
                <a:gd name="T81" fmla="*/ 48 h 146"/>
                <a:gd name="T82" fmla="*/ 62 w 230"/>
                <a:gd name="T83" fmla="*/ 54 h 146"/>
                <a:gd name="T84" fmla="*/ 62 w 230"/>
                <a:gd name="T85" fmla="*/ 54 h 146"/>
                <a:gd name="T86" fmla="*/ 40 w 230"/>
                <a:gd name="T87" fmla="*/ 80 h 146"/>
                <a:gd name="T88" fmla="*/ 28 w 230"/>
                <a:gd name="T89" fmla="*/ 96 h 146"/>
                <a:gd name="T90" fmla="*/ 22 w 230"/>
                <a:gd name="T91" fmla="*/ 108 h 146"/>
                <a:gd name="T92" fmla="*/ 22 w 230"/>
                <a:gd name="T93" fmla="*/ 108 h 146"/>
                <a:gd name="T94" fmla="*/ 32 w 230"/>
                <a:gd name="T95" fmla="*/ 110 h 146"/>
                <a:gd name="T96" fmla="*/ 48 w 230"/>
                <a:gd name="T97" fmla="*/ 110 h 146"/>
                <a:gd name="T98" fmla="*/ 84 w 230"/>
                <a:gd name="T99" fmla="*/ 106 h 146"/>
                <a:gd name="T100" fmla="*/ 120 w 230"/>
                <a:gd name="T101" fmla="*/ 100 h 146"/>
                <a:gd name="T102" fmla="*/ 146 w 230"/>
                <a:gd name="T103" fmla="*/ 94 h 146"/>
                <a:gd name="T104" fmla="*/ 146 w 230"/>
                <a:gd name="T105" fmla="*/ 94 h 146"/>
                <a:gd name="T106" fmla="*/ 154 w 230"/>
                <a:gd name="T107" fmla="*/ 92 h 146"/>
                <a:gd name="T108" fmla="*/ 164 w 230"/>
                <a:gd name="T109" fmla="*/ 90 h 146"/>
                <a:gd name="T110" fmla="*/ 172 w 230"/>
                <a:gd name="T111" fmla="*/ 92 h 146"/>
                <a:gd name="T112" fmla="*/ 180 w 230"/>
                <a:gd name="T113" fmla="*/ 94 h 146"/>
                <a:gd name="T114" fmla="*/ 186 w 230"/>
                <a:gd name="T115" fmla="*/ 98 h 146"/>
                <a:gd name="T116" fmla="*/ 192 w 230"/>
                <a:gd name="T117" fmla="*/ 102 h 146"/>
                <a:gd name="T118" fmla="*/ 196 w 230"/>
                <a:gd name="T119" fmla="*/ 110 h 146"/>
                <a:gd name="T120" fmla="*/ 198 w 230"/>
                <a:gd name="T121" fmla="*/ 118 h 146"/>
                <a:gd name="T122" fmla="*/ 230 w 230"/>
                <a:gd name="T123" fmla="*/ 142 h 14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30"/>
                <a:gd name="T187" fmla="*/ 0 h 146"/>
                <a:gd name="T188" fmla="*/ 230 w 230"/>
                <a:gd name="T189" fmla="*/ 146 h 14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30" h="146">
                  <a:moveTo>
                    <a:pt x="230" y="142"/>
                  </a:moveTo>
                  <a:lnTo>
                    <a:pt x="230" y="142"/>
                  </a:lnTo>
                  <a:lnTo>
                    <a:pt x="156" y="144"/>
                  </a:lnTo>
                  <a:lnTo>
                    <a:pt x="82" y="146"/>
                  </a:lnTo>
                  <a:lnTo>
                    <a:pt x="66" y="146"/>
                  </a:lnTo>
                  <a:lnTo>
                    <a:pt x="42" y="144"/>
                  </a:lnTo>
                  <a:lnTo>
                    <a:pt x="20" y="138"/>
                  </a:lnTo>
                  <a:lnTo>
                    <a:pt x="12" y="134"/>
                  </a:lnTo>
                  <a:lnTo>
                    <a:pt x="4" y="130"/>
                  </a:lnTo>
                  <a:lnTo>
                    <a:pt x="2" y="124"/>
                  </a:lnTo>
                  <a:lnTo>
                    <a:pt x="0" y="120"/>
                  </a:lnTo>
                  <a:lnTo>
                    <a:pt x="2" y="112"/>
                  </a:lnTo>
                  <a:lnTo>
                    <a:pt x="4" y="104"/>
                  </a:lnTo>
                  <a:lnTo>
                    <a:pt x="10" y="88"/>
                  </a:lnTo>
                  <a:lnTo>
                    <a:pt x="20" y="68"/>
                  </a:lnTo>
                  <a:lnTo>
                    <a:pt x="32" y="50"/>
                  </a:lnTo>
                  <a:lnTo>
                    <a:pt x="46" y="34"/>
                  </a:lnTo>
                  <a:lnTo>
                    <a:pt x="66" y="10"/>
                  </a:lnTo>
                  <a:lnTo>
                    <a:pt x="72" y="4"/>
                  </a:lnTo>
                  <a:lnTo>
                    <a:pt x="78" y="2"/>
                  </a:lnTo>
                  <a:lnTo>
                    <a:pt x="84" y="0"/>
                  </a:lnTo>
                  <a:lnTo>
                    <a:pt x="90" y="0"/>
                  </a:lnTo>
                  <a:lnTo>
                    <a:pt x="102" y="2"/>
                  </a:lnTo>
                  <a:lnTo>
                    <a:pt x="110" y="8"/>
                  </a:lnTo>
                  <a:lnTo>
                    <a:pt x="116" y="18"/>
                  </a:lnTo>
                  <a:lnTo>
                    <a:pt x="116" y="22"/>
                  </a:lnTo>
                  <a:lnTo>
                    <a:pt x="116" y="26"/>
                  </a:lnTo>
                  <a:lnTo>
                    <a:pt x="114" y="32"/>
                  </a:lnTo>
                  <a:lnTo>
                    <a:pt x="112" y="36"/>
                  </a:lnTo>
                  <a:lnTo>
                    <a:pt x="108" y="40"/>
                  </a:lnTo>
                  <a:lnTo>
                    <a:pt x="102" y="42"/>
                  </a:lnTo>
                  <a:lnTo>
                    <a:pt x="96" y="44"/>
                  </a:lnTo>
                  <a:lnTo>
                    <a:pt x="90" y="44"/>
                  </a:lnTo>
                  <a:lnTo>
                    <a:pt x="80" y="44"/>
                  </a:lnTo>
                  <a:lnTo>
                    <a:pt x="76" y="44"/>
                  </a:lnTo>
                  <a:lnTo>
                    <a:pt x="72" y="46"/>
                  </a:lnTo>
                  <a:lnTo>
                    <a:pt x="66" y="48"/>
                  </a:lnTo>
                  <a:lnTo>
                    <a:pt x="62" y="54"/>
                  </a:lnTo>
                  <a:lnTo>
                    <a:pt x="40" y="80"/>
                  </a:lnTo>
                  <a:lnTo>
                    <a:pt x="28" y="96"/>
                  </a:lnTo>
                  <a:lnTo>
                    <a:pt x="22" y="108"/>
                  </a:lnTo>
                  <a:lnTo>
                    <a:pt x="32" y="110"/>
                  </a:lnTo>
                  <a:lnTo>
                    <a:pt x="48" y="110"/>
                  </a:lnTo>
                  <a:lnTo>
                    <a:pt x="84" y="106"/>
                  </a:lnTo>
                  <a:lnTo>
                    <a:pt x="120" y="100"/>
                  </a:lnTo>
                  <a:lnTo>
                    <a:pt x="146" y="94"/>
                  </a:lnTo>
                  <a:lnTo>
                    <a:pt x="154" y="92"/>
                  </a:lnTo>
                  <a:lnTo>
                    <a:pt x="164" y="90"/>
                  </a:lnTo>
                  <a:lnTo>
                    <a:pt x="172" y="92"/>
                  </a:lnTo>
                  <a:lnTo>
                    <a:pt x="180" y="94"/>
                  </a:lnTo>
                  <a:lnTo>
                    <a:pt x="186" y="98"/>
                  </a:lnTo>
                  <a:lnTo>
                    <a:pt x="192" y="102"/>
                  </a:lnTo>
                  <a:lnTo>
                    <a:pt x="196" y="110"/>
                  </a:lnTo>
                  <a:lnTo>
                    <a:pt x="198" y="118"/>
                  </a:lnTo>
                  <a:lnTo>
                    <a:pt x="230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5" name="Freeform 25"/>
            <p:cNvSpPr>
              <a:spLocks/>
            </p:cNvSpPr>
            <p:nvPr/>
          </p:nvSpPr>
          <p:spPr bwMode="auto">
            <a:xfrm>
              <a:off x="4233" y="1434"/>
              <a:ext cx="220" cy="228"/>
            </a:xfrm>
            <a:custGeom>
              <a:avLst/>
              <a:gdLst>
                <a:gd name="T0" fmla="*/ 208 w 220"/>
                <a:gd name="T1" fmla="*/ 32 h 228"/>
                <a:gd name="T2" fmla="*/ 186 w 220"/>
                <a:gd name="T3" fmla="*/ 10 h 228"/>
                <a:gd name="T4" fmla="*/ 154 w 220"/>
                <a:gd name="T5" fmla="*/ 0 h 228"/>
                <a:gd name="T6" fmla="*/ 140 w 220"/>
                <a:gd name="T7" fmla="*/ 0 h 228"/>
                <a:gd name="T8" fmla="*/ 114 w 220"/>
                <a:gd name="T9" fmla="*/ 2 h 228"/>
                <a:gd name="T10" fmla="*/ 84 w 220"/>
                <a:gd name="T11" fmla="*/ 10 h 228"/>
                <a:gd name="T12" fmla="*/ 58 w 220"/>
                <a:gd name="T13" fmla="*/ 24 h 228"/>
                <a:gd name="T14" fmla="*/ 44 w 220"/>
                <a:gd name="T15" fmla="*/ 32 h 228"/>
                <a:gd name="T16" fmla="*/ 26 w 220"/>
                <a:gd name="T17" fmla="*/ 48 h 228"/>
                <a:gd name="T18" fmla="*/ 12 w 220"/>
                <a:gd name="T19" fmla="*/ 68 h 228"/>
                <a:gd name="T20" fmla="*/ 6 w 220"/>
                <a:gd name="T21" fmla="*/ 82 h 228"/>
                <a:gd name="T22" fmla="*/ 2 w 220"/>
                <a:gd name="T23" fmla="*/ 96 h 228"/>
                <a:gd name="T24" fmla="*/ 0 w 220"/>
                <a:gd name="T25" fmla="*/ 112 h 228"/>
                <a:gd name="T26" fmla="*/ 6 w 220"/>
                <a:gd name="T27" fmla="*/ 128 h 228"/>
                <a:gd name="T28" fmla="*/ 14 w 220"/>
                <a:gd name="T29" fmla="*/ 136 h 228"/>
                <a:gd name="T30" fmla="*/ 30 w 220"/>
                <a:gd name="T31" fmla="*/ 144 h 228"/>
                <a:gd name="T32" fmla="*/ 40 w 220"/>
                <a:gd name="T33" fmla="*/ 144 h 228"/>
                <a:gd name="T34" fmla="*/ 46 w 220"/>
                <a:gd name="T35" fmla="*/ 144 h 228"/>
                <a:gd name="T36" fmla="*/ 66 w 220"/>
                <a:gd name="T37" fmla="*/ 138 h 228"/>
                <a:gd name="T38" fmla="*/ 74 w 220"/>
                <a:gd name="T39" fmla="*/ 120 h 228"/>
                <a:gd name="T40" fmla="*/ 72 w 220"/>
                <a:gd name="T41" fmla="*/ 110 h 228"/>
                <a:gd name="T42" fmla="*/ 58 w 220"/>
                <a:gd name="T43" fmla="*/ 98 h 228"/>
                <a:gd name="T44" fmla="*/ 46 w 220"/>
                <a:gd name="T45" fmla="*/ 96 h 228"/>
                <a:gd name="T46" fmla="*/ 38 w 220"/>
                <a:gd name="T47" fmla="*/ 98 h 228"/>
                <a:gd name="T48" fmla="*/ 42 w 220"/>
                <a:gd name="T49" fmla="*/ 88 h 228"/>
                <a:gd name="T50" fmla="*/ 42 w 220"/>
                <a:gd name="T51" fmla="*/ 88 h 228"/>
                <a:gd name="T52" fmla="*/ 64 w 220"/>
                <a:gd name="T53" fmla="*/ 64 h 228"/>
                <a:gd name="T54" fmla="*/ 74 w 220"/>
                <a:gd name="T55" fmla="*/ 58 h 228"/>
                <a:gd name="T56" fmla="*/ 108 w 220"/>
                <a:gd name="T57" fmla="*/ 42 h 228"/>
                <a:gd name="T58" fmla="*/ 140 w 220"/>
                <a:gd name="T59" fmla="*/ 38 h 228"/>
                <a:gd name="T60" fmla="*/ 150 w 220"/>
                <a:gd name="T61" fmla="*/ 38 h 228"/>
                <a:gd name="T62" fmla="*/ 168 w 220"/>
                <a:gd name="T63" fmla="*/ 44 h 228"/>
                <a:gd name="T64" fmla="*/ 178 w 220"/>
                <a:gd name="T65" fmla="*/ 54 h 228"/>
                <a:gd name="T66" fmla="*/ 182 w 220"/>
                <a:gd name="T67" fmla="*/ 62 h 228"/>
                <a:gd name="T68" fmla="*/ 184 w 220"/>
                <a:gd name="T69" fmla="*/ 84 h 228"/>
                <a:gd name="T70" fmla="*/ 182 w 220"/>
                <a:gd name="T71" fmla="*/ 96 h 228"/>
                <a:gd name="T72" fmla="*/ 172 w 220"/>
                <a:gd name="T73" fmla="*/ 118 h 228"/>
                <a:gd name="T74" fmla="*/ 156 w 220"/>
                <a:gd name="T75" fmla="*/ 136 h 228"/>
                <a:gd name="T76" fmla="*/ 144 w 220"/>
                <a:gd name="T77" fmla="*/ 142 h 228"/>
                <a:gd name="T78" fmla="*/ 100 w 220"/>
                <a:gd name="T79" fmla="*/ 148 h 228"/>
                <a:gd name="T80" fmla="*/ 118 w 220"/>
                <a:gd name="T81" fmla="*/ 176 h 228"/>
                <a:gd name="T82" fmla="*/ 152 w 220"/>
                <a:gd name="T83" fmla="*/ 222 h 228"/>
                <a:gd name="T84" fmla="*/ 156 w 220"/>
                <a:gd name="T85" fmla="*/ 224 h 228"/>
                <a:gd name="T86" fmla="*/ 144 w 220"/>
                <a:gd name="T87" fmla="*/ 178 h 228"/>
                <a:gd name="T88" fmla="*/ 158 w 220"/>
                <a:gd name="T89" fmla="*/ 174 h 228"/>
                <a:gd name="T90" fmla="*/ 176 w 220"/>
                <a:gd name="T91" fmla="*/ 168 h 228"/>
                <a:gd name="T92" fmla="*/ 202 w 220"/>
                <a:gd name="T93" fmla="*/ 140 h 228"/>
                <a:gd name="T94" fmla="*/ 216 w 220"/>
                <a:gd name="T95" fmla="*/ 106 h 228"/>
                <a:gd name="T96" fmla="*/ 220 w 220"/>
                <a:gd name="T97" fmla="*/ 88 h 228"/>
                <a:gd name="T98" fmla="*/ 216 w 220"/>
                <a:gd name="T99" fmla="*/ 50 h 228"/>
                <a:gd name="T100" fmla="*/ 208 w 220"/>
                <a:gd name="T101" fmla="*/ 32 h 2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20"/>
                <a:gd name="T154" fmla="*/ 0 h 228"/>
                <a:gd name="T155" fmla="*/ 220 w 220"/>
                <a:gd name="T156" fmla="*/ 228 h 22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20" h="228">
                  <a:moveTo>
                    <a:pt x="208" y="32"/>
                  </a:moveTo>
                  <a:lnTo>
                    <a:pt x="208" y="32"/>
                  </a:lnTo>
                  <a:lnTo>
                    <a:pt x="198" y="20"/>
                  </a:lnTo>
                  <a:lnTo>
                    <a:pt x="186" y="10"/>
                  </a:lnTo>
                  <a:lnTo>
                    <a:pt x="172" y="4"/>
                  </a:lnTo>
                  <a:lnTo>
                    <a:pt x="154" y="0"/>
                  </a:lnTo>
                  <a:lnTo>
                    <a:pt x="140" y="0"/>
                  </a:lnTo>
                  <a:lnTo>
                    <a:pt x="128" y="0"/>
                  </a:lnTo>
                  <a:lnTo>
                    <a:pt x="114" y="2"/>
                  </a:lnTo>
                  <a:lnTo>
                    <a:pt x="98" y="6"/>
                  </a:lnTo>
                  <a:lnTo>
                    <a:pt x="84" y="10"/>
                  </a:lnTo>
                  <a:lnTo>
                    <a:pt x="70" y="16"/>
                  </a:lnTo>
                  <a:lnTo>
                    <a:pt x="58" y="24"/>
                  </a:lnTo>
                  <a:lnTo>
                    <a:pt x="44" y="32"/>
                  </a:lnTo>
                  <a:lnTo>
                    <a:pt x="34" y="40"/>
                  </a:lnTo>
                  <a:lnTo>
                    <a:pt x="26" y="48"/>
                  </a:lnTo>
                  <a:lnTo>
                    <a:pt x="18" y="58"/>
                  </a:lnTo>
                  <a:lnTo>
                    <a:pt x="12" y="68"/>
                  </a:lnTo>
                  <a:lnTo>
                    <a:pt x="6" y="82"/>
                  </a:lnTo>
                  <a:lnTo>
                    <a:pt x="2" y="96"/>
                  </a:lnTo>
                  <a:lnTo>
                    <a:pt x="0" y="104"/>
                  </a:lnTo>
                  <a:lnTo>
                    <a:pt x="0" y="112"/>
                  </a:lnTo>
                  <a:lnTo>
                    <a:pt x="2" y="120"/>
                  </a:lnTo>
                  <a:lnTo>
                    <a:pt x="6" y="128"/>
                  </a:lnTo>
                  <a:lnTo>
                    <a:pt x="14" y="136"/>
                  </a:lnTo>
                  <a:lnTo>
                    <a:pt x="22" y="140"/>
                  </a:lnTo>
                  <a:lnTo>
                    <a:pt x="30" y="144"/>
                  </a:lnTo>
                  <a:lnTo>
                    <a:pt x="40" y="144"/>
                  </a:lnTo>
                  <a:lnTo>
                    <a:pt x="46" y="144"/>
                  </a:lnTo>
                  <a:lnTo>
                    <a:pt x="58" y="142"/>
                  </a:lnTo>
                  <a:lnTo>
                    <a:pt x="66" y="138"/>
                  </a:lnTo>
                  <a:lnTo>
                    <a:pt x="72" y="130"/>
                  </a:lnTo>
                  <a:lnTo>
                    <a:pt x="74" y="120"/>
                  </a:lnTo>
                  <a:lnTo>
                    <a:pt x="72" y="110"/>
                  </a:lnTo>
                  <a:lnTo>
                    <a:pt x="66" y="102"/>
                  </a:lnTo>
                  <a:lnTo>
                    <a:pt x="58" y="98"/>
                  </a:lnTo>
                  <a:lnTo>
                    <a:pt x="46" y="96"/>
                  </a:lnTo>
                  <a:lnTo>
                    <a:pt x="38" y="98"/>
                  </a:lnTo>
                  <a:lnTo>
                    <a:pt x="42" y="90"/>
                  </a:lnTo>
                  <a:lnTo>
                    <a:pt x="42" y="88"/>
                  </a:lnTo>
                  <a:lnTo>
                    <a:pt x="52" y="76"/>
                  </a:lnTo>
                  <a:lnTo>
                    <a:pt x="64" y="64"/>
                  </a:lnTo>
                  <a:lnTo>
                    <a:pt x="74" y="58"/>
                  </a:lnTo>
                  <a:lnTo>
                    <a:pt x="86" y="52"/>
                  </a:lnTo>
                  <a:lnTo>
                    <a:pt x="108" y="42"/>
                  </a:lnTo>
                  <a:lnTo>
                    <a:pt x="130" y="38"/>
                  </a:lnTo>
                  <a:lnTo>
                    <a:pt x="140" y="38"/>
                  </a:lnTo>
                  <a:lnTo>
                    <a:pt x="150" y="38"/>
                  </a:lnTo>
                  <a:lnTo>
                    <a:pt x="160" y="40"/>
                  </a:lnTo>
                  <a:lnTo>
                    <a:pt x="168" y="44"/>
                  </a:lnTo>
                  <a:lnTo>
                    <a:pt x="174" y="50"/>
                  </a:lnTo>
                  <a:lnTo>
                    <a:pt x="178" y="54"/>
                  </a:lnTo>
                  <a:lnTo>
                    <a:pt x="182" y="62"/>
                  </a:lnTo>
                  <a:lnTo>
                    <a:pt x="184" y="72"/>
                  </a:lnTo>
                  <a:lnTo>
                    <a:pt x="184" y="84"/>
                  </a:lnTo>
                  <a:lnTo>
                    <a:pt x="182" y="96"/>
                  </a:lnTo>
                  <a:lnTo>
                    <a:pt x="178" y="106"/>
                  </a:lnTo>
                  <a:lnTo>
                    <a:pt x="172" y="118"/>
                  </a:lnTo>
                  <a:lnTo>
                    <a:pt x="164" y="128"/>
                  </a:lnTo>
                  <a:lnTo>
                    <a:pt x="156" y="136"/>
                  </a:lnTo>
                  <a:lnTo>
                    <a:pt x="144" y="142"/>
                  </a:lnTo>
                  <a:lnTo>
                    <a:pt x="132" y="144"/>
                  </a:lnTo>
                  <a:lnTo>
                    <a:pt x="100" y="148"/>
                  </a:lnTo>
                  <a:lnTo>
                    <a:pt x="118" y="176"/>
                  </a:lnTo>
                  <a:lnTo>
                    <a:pt x="132" y="192"/>
                  </a:lnTo>
                  <a:lnTo>
                    <a:pt x="152" y="222"/>
                  </a:lnTo>
                  <a:lnTo>
                    <a:pt x="156" y="224"/>
                  </a:lnTo>
                  <a:lnTo>
                    <a:pt x="162" y="228"/>
                  </a:lnTo>
                  <a:lnTo>
                    <a:pt x="144" y="178"/>
                  </a:lnTo>
                  <a:lnTo>
                    <a:pt x="158" y="174"/>
                  </a:lnTo>
                  <a:lnTo>
                    <a:pt x="176" y="168"/>
                  </a:lnTo>
                  <a:lnTo>
                    <a:pt x="190" y="156"/>
                  </a:lnTo>
                  <a:lnTo>
                    <a:pt x="202" y="140"/>
                  </a:lnTo>
                  <a:lnTo>
                    <a:pt x="210" y="124"/>
                  </a:lnTo>
                  <a:lnTo>
                    <a:pt x="216" y="106"/>
                  </a:lnTo>
                  <a:lnTo>
                    <a:pt x="220" y="88"/>
                  </a:lnTo>
                  <a:lnTo>
                    <a:pt x="220" y="68"/>
                  </a:lnTo>
                  <a:lnTo>
                    <a:pt x="216" y="50"/>
                  </a:lnTo>
                  <a:lnTo>
                    <a:pt x="214" y="42"/>
                  </a:lnTo>
                  <a:lnTo>
                    <a:pt x="208" y="32"/>
                  </a:lnTo>
                  <a:close/>
                </a:path>
              </a:pathLst>
            </a:custGeom>
            <a:solidFill>
              <a:srgbClr val="8CC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006" name="Freeform 26"/>
            <p:cNvSpPr>
              <a:spLocks/>
            </p:cNvSpPr>
            <p:nvPr/>
          </p:nvSpPr>
          <p:spPr bwMode="auto">
            <a:xfrm>
              <a:off x="4395" y="1678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50 w 50"/>
                <a:gd name="T3" fmla="*/ 24 h 48"/>
                <a:gd name="T4" fmla="*/ 48 w 50"/>
                <a:gd name="T5" fmla="*/ 34 h 48"/>
                <a:gd name="T6" fmla="*/ 44 w 50"/>
                <a:gd name="T7" fmla="*/ 40 h 48"/>
                <a:gd name="T8" fmla="*/ 36 w 50"/>
                <a:gd name="T9" fmla="*/ 46 h 48"/>
                <a:gd name="T10" fmla="*/ 26 w 50"/>
                <a:gd name="T11" fmla="*/ 48 h 48"/>
                <a:gd name="T12" fmla="*/ 26 w 50"/>
                <a:gd name="T13" fmla="*/ 48 h 48"/>
                <a:gd name="T14" fmla="*/ 16 w 50"/>
                <a:gd name="T15" fmla="*/ 46 h 48"/>
                <a:gd name="T16" fmla="*/ 8 w 50"/>
                <a:gd name="T17" fmla="*/ 40 h 48"/>
                <a:gd name="T18" fmla="*/ 2 w 50"/>
                <a:gd name="T19" fmla="*/ 34 h 48"/>
                <a:gd name="T20" fmla="*/ 0 w 50"/>
                <a:gd name="T21" fmla="*/ 24 h 48"/>
                <a:gd name="T22" fmla="*/ 0 w 50"/>
                <a:gd name="T23" fmla="*/ 24 h 48"/>
                <a:gd name="T24" fmla="*/ 2 w 50"/>
                <a:gd name="T25" fmla="*/ 14 h 48"/>
                <a:gd name="T26" fmla="*/ 8 w 50"/>
                <a:gd name="T27" fmla="*/ 8 h 48"/>
                <a:gd name="T28" fmla="*/ 16 w 50"/>
                <a:gd name="T29" fmla="*/ 2 h 48"/>
                <a:gd name="T30" fmla="*/ 26 w 50"/>
                <a:gd name="T31" fmla="*/ 0 h 48"/>
                <a:gd name="T32" fmla="*/ 26 w 50"/>
                <a:gd name="T33" fmla="*/ 0 h 48"/>
                <a:gd name="T34" fmla="*/ 36 w 50"/>
                <a:gd name="T35" fmla="*/ 2 h 48"/>
                <a:gd name="T36" fmla="*/ 44 w 50"/>
                <a:gd name="T37" fmla="*/ 8 h 48"/>
                <a:gd name="T38" fmla="*/ 48 w 50"/>
                <a:gd name="T39" fmla="*/ 14 h 48"/>
                <a:gd name="T40" fmla="*/ 50 w 50"/>
                <a:gd name="T41" fmla="*/ 24 h 48"/>
                <a:gd name="T42" fmla="*/ 50 w 50"/>
                <a:gd name="T43" fmla="*/ 24 h 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0"/>
                <a:gd name="T67" fmla="*/ 0 h 48"/>
                <a:gd name="T68" fmla="*/ 50 w 50"/>
                <a:gd name="T69" fmla="*/ 48 h 4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0" h="48">
                  <a:moveTo>
                    <a:pt x="50" y="24"/>
                  </a:moveTo>
                  <a:lnTo>
                    <a:pt x="50" y="24"/>
                  </a:lnTo>
                  <a:lnTo>
                    <a:pt x="48" y="34"/>
                  </a:lnTo>
                  <a:lnTo>
                    <a:pt x="44" y="40"/>
                  </a:lnTo>
                  <a:lnTo>
                    <a:pt x="36" y="46"/>
                  </a:lnTo>
                  <a:lnTo>
                    <a:pt x="26" y="48"/>
                  </a:lnTo>
                  <a:lnTo>
                    <a:pt x="16" y="46"/>
                  </a:lnTo>
                  <a:lnTo>
                    <a:pt x="8" y="40"/>
                  </a:lnTo>
                  <a:lnTo>
                    <a:pt x="2" y="34"/>
                  </a:lnTo>
                  <a:lnTo>
                    <a:pt x="0" y="24"/>
                  </a:lnTo>
                  <a:lnTo>
                    <a:pt x="2" y="14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36" y="2"/>
                  </a:lnTo>
                  <a:lnTo>
                    <a:pt x="44" y="8"/>
                  </a:lnTo>
                  <a:lnTo>
                    <a:pt x="48" y="14"/>
                  </a:lnTo>
                  <a:lnTo>
                    <a:pt x="50" y="24"/>
                  </a:lnTo>
                  <a:close/>
                </a:path>
              </a:pathLst>
            </a:custGeom>
            <a:solidFill>
              <a:srgbClr val="8CC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Rounded Rectangular Callout 21"/>
          <p:cNvSpPr/>
          <p:nvPr/>
        </p:nvSpPr>
        <p:spPr>
          <a:xfrm>
            <a:off x="7392988" y="2205038"/>
            <a:ext cx="1651000" cy="576262"/>
          </a:xfrm>
          <a:prstGeom prst="wedgeRoundRectCallout">
            <a:avLst>
              <a:gd name="adj1" fmla="val -78293"/>
              <a:gd name="adj2" fmla="val -893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Attribute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7050088" y="3284538"/>
            <a:ext cx="1651000" cy="576262"/>
          </a:xfrm>
          <a:prstGeom prst="wedgeRoundRectCallout">
            <a:avLst>
              <a:gd name="adj1" fmla="val -103210"/>
              <a:gd name="adj2" fmla="val -7639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158635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9088"/>
            <a:ext cx="8305800" cy="3232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+mn-lt"/>
                <a:cs typeface="+mn-cs"/>
              </a:rPr>
              <a:t>Java applies concept of </a:t>
            </a:r>
            <a:r>
              <a:rPr lang="en-US" sz="2800" dirty="0">
                <a:solidFill>
                  <a:srgbClr val="0000FF"/>
                </a:solidFill>
                <a:latin typeface="+mn-lt"/>
                <a:cs typeface="+mn-cs"/>
              </a:rPr>
              <a:t>information hiding</a:t>
            </a:r>
            <a:r>
              <a:rPr lang="en-US" sz="2800" dirty="0">
                <a:latin typeface="+mn-lt"/>
                <a:cs typeface="+mn-cs"/>
              </a:rPr>
              <a:t> by using </a:t>
            </a:r>
            <a:r>
              <a:rPr lang="en-US" sz="2800" u="sng" dirty="0">
                <a:solidFill>
                  <a:srgbClr val="0000FF"/>
                </a:solidFill>
                <a:latin typeface="+mn-lt"/>
                <a:cs typeface="+mn-cs"/>
              </a:rPr>
              <a:t>modifiers</a:t>
            </a:r>
            <a:r>
              <a:rPr lang="en-US" sz="2800" dirty="0">
                <a:latin typeface="+mn-lt"/>
                <a:cs typeface="+mn-cs"/>
              </a:rPr>
              <a:t> which are applied on </a:t>
            </a:r>
            <a:r>
              <a:rPr lang="en-US" sz="2800" u="sng" dirty="0">
                <a:solidFill>
                  <a:srgbClr val="009900"/>
                </a:solidFill>
                <a:latin typeface="+mn-lt"/>
                <a:cs typeface="+mn-cs"/>
              </a:rPr>
              <a:t>both attribute &amp; method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1" dirty="0">
                <a:latin typeface="+mn-lt"/>
                <a:cs typeface="+mn-cs"/>
              </a:rPr>
              <a:t>Some Examples of Modifier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latin typeface="+mn-lt"/>
                <a:cs typeface="+mn-cs"/>
              </a:rPr>
              <a:t>Private</a:t>
            </a:r>
            <a:r>
              <a:rPr lang="en-US" sz="2400" dirty="0">
                <a:latin typeface="+mn-lt"/>
                <a:cs typeface="+mn-cs"/>
              </a:rPr>
              <a:t> can be referred only </a:t>
            </a:r>
            <a:r>
              <a:rPr lang="en-US" sz="2400" u="sng" dirty="0">
                <a:latin typeface="+mn-lt"/>
                <a:cs typeface="+mn-cs"/>
              </a:rPr>
              <a:t>within its own class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>
                <a:latin typeface="+mn-lt"/>
                <a:cs typeface="+mn-cs"/>
              </a:rPr>
              <a:t>Public</a:t>
            </a:r>
            <a:r>
              <a:rPr lang="en-US" sz="2400" dirty="0">
                <a:latin typeface="+mn-lt"/>
                <a:cs typeface="+mn-cs"/>
              </a:rPr>
              <a:t> can be referred from </a:t>
            </a:r>
            <a:r>
              <a:rPr lang="en-US" sz="2400" u="sng" dirty="0">
                <a:latin typeface="+mn-lt"/>
                <a:cs typeface="+mn-cs"/>
              </a:rPr>
              <a:t>other classes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u="sng" dirty="0">
              <a:latin typeface="+mn-lt"/>
              <a:cs typeface="+mn-cs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u="sng" dirty="0">
              <a:latin typeface="+mn-lt"/>
              <a:cs typeface="+mn-cs"/>
            </a:endParaRPr>
          </a:p>
        </p:txBody>
      </p:sp>
      <p:pic>
        <p:nvPicPr>
          <p:cNvPr id="27652" name="Picture 5" descr="j044189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597400"/>
            <a:ext cx="16129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6" descr="j044189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425" y="4498975"/>
            <a:ext cx="21780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AutoShape 7"/>
          <p:cNvSpPr>
            <a:spLocks noChangeArrowheads="1"/>
          </p:cNvSpPr>
          <p:nvPr/>
        </p:nvSpPr>
        <p:spPr bwMode="auto">
          <a:xfrm>
            <a:off x="6432550" y="4138613"/>
            <a:ext cx="865188" cy="8636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lnTo>
                  <a:pt x="17401" y="15493"/>
                </a:ln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lnTo>
                  <a:pt x="4198" y="6106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55" name="Text Box 8"/>
          <p:cNvSpPr txBox="1">
            <a:spLocks noChangeArrowheads="1"/>
          </p:cNvSpPr>
          <p:nvPr/>
        </p:nvSpPr>
        <p:spPr bwMode="auto">
          <a:xfrm>
            <a:off x="7369175" y="4283075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private</a:t>
            </a:r>
          </a:p>
        </p:txBody>
      </p:sp>
      <p:sp>
        <p:nvSpPr>
          <p:cNvPr id="27656" name="AutoShape 9"/>
          <p:cNvSpPr>
            <a:spLocks noChangeArrowheads="1"/>
          </p:cNvSpPr>
          <p:nvPr/>
        </p:nvSpPr>
        <p:spPr bwMode="auto">
          <a:xfrm>
            <a:off x="2266950" y="4740275"/>
            <a:ext cx="1152525" cy="72072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27657" name="Text Box 10"/>
          <p:cNvSpPr txBox="1">
            <a:spLocks noChangeArrowheads="1"/>
          </p:cNvSpPr>
          <p:nvPr/>
        </p:nvSpPr>
        <p:spPr bwMode="auto">
          <a:xfrm>
            <a:off x="2987675" y="4237038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/>
              <a:t>public</a:t>
            </a:r>
          </a:p>
        </p:txBody>
      </p:sp>
      <p:sp>
        <p:nvSpPr>
          <p:cNvPr id="3994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901E10-1569-4F5E-8E08-EB8186CE8A4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24529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nimBg="1"/>
      <p:bldP spid="27655" grpId="0"/>
      <p:bldP spid="27656" grpId="0" animBg="1"/>
      <p:bldP spid="276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class of “Dog” by</a:t>
            </a:r>
          </a:p>
          <a:p>
            <a:pPr lvl="1"/>
            <a:r>
              <a:rPr lang="en-US" dirty="0"/>
              <a:t>listing some properties and methods</a:t>
            </a:r>
          </a:p>
          <a:p>
            <a:pPr lvl="1"/>
            <a:r>
              <a:rPr lang="en-US" dirty="0"/>
              <a:t>drawing a class diagram</a:t>
            </a:r>
          </a:p>
          <a:p>
            <a:r>
              <a:rPr lang="en-US" dirty="0"/>
              <a:t>Convert to Java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5" name="Picture 4" descr="Gerald-G-Dog-Simple-Draw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08304" y="1484784"/>
            <a:ext cx="1462337" cy="3089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2534" y="6467341"/>
            <a:ext cx="755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* write to the re-use paper provided by lecturer, then submit it to LMS</a:t>
            </a:r>
          </a:p>
        </p:txBody>
      </p:sp>
    </p:spTree>
    <p:extLst>
      <p:ext uri="{BB962C8B-B14F-4D97-AF65-F5344CB8AC3E}">
        <p14:creationId xmlns:p14="http://schemas.microsoft.com/office/powerpoint/2010/main" val="1919213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is only a template. We cannot use it directly</a:t>
            </a:r>
          </a:p>
          <a:p>
            <a:r>
              <a:rPr lang="en-US" dirty="0"/>
              <a:t>To use a class, we need to create its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4" descr="menina-estudante-conten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664" y="3717032"/>
            <a:ext cx="1406556" cy="20286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592" y="5805264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+mn-lt"/>
              </a:rPr>
              <a:t>Class: </a:t>
            </a:r>
            <a:r>
              <a:rPr lang="en-US" sz="2400" b="1" i="1" dirty="0">
                <a:latin typeface="+mn-lt"/>
              </a:rPr>
              <a:t>Student</a:t>
            </a:r>
          </a:p>
        </p:txBody>
      </p:sp>
      <p:pic>
        <p:nvPicPr>
          <p:cNvPr id="7" name="Picture 6" descr="menina-estudante-conten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0" y="3429000"/>
            <a:ext cx="948585" cy="1368152"/>
          </a:xfrm>
          <a:prstGeom prst="rect">
            <a:avLst/>
          </a:prstGeom>
        </p:spPr>
      </p:pic>
      <p:pic>
        <p:nvPicPr>
          <p:cNvPr id="8" name="Picture 7" descr="menina-estudante-conten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56176" y="4509120"/>
            <a:ext cx="948585" cy="1368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08104" y="3645024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+mn-lt"/>
              </a:rPr>
              <a:t>Object: </a:t>
            </a:r>
            <a:r>
              <a:rPr lang="en-US" sz="2400" b="1" i="1" dirty="0">
                <a:latin typeface="+mn-lt"/>
              </a:rPr>
              <a:t>student1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131840" y="4005064"/>
            <a:ext cx="1296144" cy="5040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275856" y="5301208"/>
            <a:ext cx="2664296" cy="2160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92080" y="602128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+mn-lt"/>
              </a:rPr>
              <a:t>Object: </a:t>
            </a:r>
            <a:r>
              <a:rPr lang="en-US" sz="2400" b="1" i="1" dirty="0">
                <a:latin typeface="+mn-lt"/>
              </a:rPr>
              <a:t>student2</a:t>
            </a:r>
          </a:p>
        </p:txBody>
      </p:sp>
    </p:spTree>
    <p:extLst>
      <p:ext uri="{BB962C8B-B14F-4D97-AF65-F5344CB8AC3E}">
        <p14:creationId xmlns:p14="http://schemas.microsoft.com/office/powerpoint/2010/main" val="817423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91998" y="1772816"/>
            <a:ext cx="5428474" cy="2952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7" name="Picture 6" descr="menina-estudante-conten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1720" y="4869160"/>
            <a:ext cx="948585" cy="1368152"/>
          </a:xfrm>
          <a:prstGeom prst="rect">
            <a:avLst/>
          </a:prstGeom>
        </p:spPr>
      </p:pic>
      <p:pic>
        <p:nvPicPr>
          <p:cNvPr id="8" name="Picture 7" descr="menina-estudante-conten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64088" y="4941168"/>
            <a:ext cx="948585" cy="136815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rot="10800000" flipV="1">
            <a:off x="2411760" y="3861048"/>
            <a:ext cx="1440160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067944" y="4149080"/>
            <a:ext cx="1224136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59632" y="6237312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+mn-lt"/>
              </a:rPr>
              <a:t>Object: </a:t>
            </a:r>
            <a:r>
              <a:rPr lang="en-US" sz="2400" b="1" i="1" dirty="0">
                <a:latin typeface="+mn-lt"/>
              </a:rPr>
              <a:t>student1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7984" y="6237312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+mn-lt"/>
              </a:rPr>
              <a:t>Object: </a:t>
            </a:r>
            <a:r>
              <a:rPr lang="en-US" sz="2400" b="1" i="1" dirty="0">
                <a:latin typeface="+mn-lt"/>
              </a:rPr>
              <a:t>student2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1700808"/>
            <a:ext cx="2575345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502" y="3140968"/>
            <a:ext cx="3042338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59581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Using Sim Class</a:t>
            </a:r>
          </a:p>
        </p:txBody>
      </p:sp>
      <p:pic>
        <p:nvPicPr>
          <p:cNvPr id="4608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536825"/>
            <a:ext cx="6324600" cy="3940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4" name="TextBox 3"/>
          <p:cNvSpPr txBox="1">
            <a:spLocks noChangeArrowheads="1"/>
          </p:cNvSpPr>
          <p:nvPr/>
        </p:nvSpPr>
        <p:spPr bwMode="auto">
          <a:xfrm>
            <a:off x="762000" y="1422400"/>
            <a:ext cx="6999288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Calibri" panose="020F0502020204030204" pitchFamily="34" charset="0"/>
              </a:rPr>
              <a:t>When class is in used.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Calibri" panose="020F0502020204030204" pitchFamily="34" charset="0"/>
              </a:rPr>
              <a:t>		</a:t>
            </a:r>
            <a:r>
              <a:rPr lang="en-US" altLang="en-US" sz="2800" b="1" i="1">
                <a:latin typeface="Calibri" panose="020F0502020204030204" pitchFamily="34" charset="0"/>
              </a:rPr>
              <a:t>Class </a:t>
            </a:r>
            <a:r>
              <a:rPr lang="en-US" altLang="en-US" sz="2400" b="1" i="1">
                <a:latin typeface="Calibri" panose="020F0502020204030204" pitchFamily="34" charset="0"/>
              </a:rPr>
              <a:t>is a type, </a:t>
            </a:r>
            <a:r>
              <a:rPr lang="en-US" altLang="en-US" sz="2800" b="1" i="1">
                <a:latin typeface="Calibri" panose="020F0502020204030204" pitchFamily="34" charset="0"/>
              </a:rPr>
              <a:t>Instance </a:t>
            </a:r>
            <a:r>
              <a:rPr lang="en-US" altLang="en-US" sz="2400" b="1" i="1">
                <a:latin typeface="Calibri" panose="020F0502020204030204" pitchFamily="34" charset="0"/>
              </a:rPr>
              <a:t>is a variable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5486400" y="4800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858000" y="4616450"/>
            <a:ext cx="1470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alibri" panose="020F0502020204030204" pitchFamily="34" charset="0"/>
              </a:rPr>
              <a:t>New instance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562600" y="5105400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884988" y="4946650"/>
            <a:ext cx="1889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alibri" panose="020F0502020204030204" pitchFamily="34" charset="0"/>
              </a:rPr>
              <a:t>Call public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alibri" panose="020F0502020204030204" pitchFamily="34" charset="0"/>
              </a:rPr>
              <a:t>method members</a:t>
            </a:r>
          </a:p>
        </p:txBody>
      </p:sp>
      <p:sp>
        <p:nvSpPr>
          <p:cNvPr id="4608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B0575D-3909-434E-9D9B-BEB3E949DE5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419475" y="2157413"/>
            <a:ext cx="1944688" cy="2459037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2663825" y="2157413"/>
            <a:ext cx="344488" cy="245903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78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Getter and Setter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class’s variables are designed to be </a:t>
            </a:r>
            <a:r>
              <a:rPr lang="en-US" dirty="0">
                <a:solidFill>
                  <a:srgbClr val="FF0000"/>
                </a:solidFill>
              </a:rPr>
              <a:t>private</a:t>
            </a:r>
            <a:r>
              <a:rPr lang="en-US" dirty="0"/>
              <a:t> (accessible only within its class)</a:t>
            </a:r>
          </a:p>
          <a:p>
            <a:r>
              <a:rPr lang="en-US" dirty="0"/>
              <a:t>To access them outside of its class, we need two </a:t>
            </a:r>
            <a:r>
              <a:rPr lang="en-US" dirty="0">
                <a:solidFill>
                  <a:srgbClr val="009900"/>
                </a:solidFill>
              </a:rPr>
              <a:t>public</a:t>
            </a:r>
            <a:r>
              <a:rPr lang="en-US" dirty="0"/>
              <a:t> methods: </a:t>
            </a:r>
            <a:r>
              <a:rPr lang="en-US" dirty="0">
                <a:solidFill>
                  <a:srgbClr val="0000CC"/>
                </a:solidFill>
              </a:rPr>
              <a:t>getter and setter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7" name="Down Arrow 6"/>
          <p:cNvSpPr/>
          <p:nvPr/>
        </p:nvSpPr>
        <p:spPr>
          <a:xfrm rot="17533854">
            <a:off x="3285328" y="4757729"/>
            <a:ext cx="720080" cy="50405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475656" y="4437112"/>
            <a:ext cx="20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latin typeface="+mn-lt"/>
              </a:rPr>
              <a:t>ID and name are private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4293096"/>
            <a:ext cx="305822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2930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9"/>
          <a:stretch>
            <a:fillRect/>
          </a:stretch>
        </p:blipFill>
        <p:spPr bwMode="auto">
          <a:xfrm>
            <a:off x="763588" y="1916113"/>
            <a:ext cx="6929437" cy="2214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Getter/ Setter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75" y="4324350"/>
            <a:ext cx="4800600" cy="2620963"/>
          </a:xfrm>
        </p:spPr>
        <p:txBody>
          <a:bodyPr rtlCol="0">
            <a:normAutofit fontScale="92500"/>
          </a:bodyPr>
          <a:lstStyle/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“By Design, attribute is </a:t>
            </a:r>
            <a:r>
              <a:rPr lang="en-US" u="sng" dirty="0"/>
              <a:t>recommend to be </a:t>
            </a:r>
            <a:r>
              <a:rPr lang="en-US" b="1" i="1" u="sng" dirty="0"/>
              <a:t>private”</a:t>
            </a:r>
            <a:endParaRPr lang="en-US" b="1" i="1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/>
              <a:t>Therefore, we need..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b="1" dirty="0"/>
              <a:t>Setter </a:t>
            </a:r>
            <a:r>
              <a:rPr lang="en-US" dirty="0"/>
              <a:t>(</a:t>
            </a:r>
            <a:r>
              <a:rPr lang="en-US" dirty="0" err="1"/>
              <a:t>Mutator</a:t>
            </a:r>
            <a:r>
              <a:rPr lang="en-US" dirty="0"/>
              <a:t>)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b="1" dirty="0"/>
              <a:t>Getter </a:t>
            </a:r>
            <a:r>
              <a:rPr lang="en-US" dirty="0"/>
              <a:t>(</a:t>
            </a:r>
            <a:r>
              <a:rPr lang="en-US" dirty="0" err="1"/>
              <a:t>Accessor</a:t>
            </a:r>
            <a:r>
              <a:rPr lang="en-US" dirty="0"/>
              <a:t>)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u="sng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2276475"/>
            <a:ext cx="8143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3429000"/>
            <a:ext cx="896937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3" name="TextBox 4"/>
          <p:cNvSpPr txBox="1">
            <a:spLocks noChangeArrowheads="1"/>
          </p:cNvSpPr>
          <p:nvPr/>
        </p:nvSpPr>
        <p:spPr bwMode="auto">
          <a:xfrm>
            <a:off x="327025" y="4365625"/>
            <a:ext cx="34655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Calibri" panose="020F0502020204030204" pitchFamily="34" charset="0"/>
              </a:rPr>
              <a:t>Error on these statements,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Calibri" panose="020F0502020204030204" pitchFamily="34" charset="0"/>
              </a:rPr>
              <a:t>age is </a:t>
            </a:r>
            <a:r>
              <a:rPr lang="en-US" altLang="en-US" sz="2000" b="1" u="sng">
                <a:solidFill>
                  <a:srgbClr val="FF0000"/>
                </a:solidFill>
                <a:latin typeface="Calibri" panose="020F0502020204030204" pitchFamily="34" charset="0"/>
              </a:rPr>
              <a:t>private</a:t>
            </a:r>
            <a:r>
              <a:rPr lang="en-US" altLang="en-US" sz="2000" b="1">
                <a:solidFill>
                  <a:srgbClr val="FF0000"/>
                </a:solidFill>
                <a:latin typeface="Calibri" panose="020F0502020204030204" pitchFamily="34" charset="0"/>
              </a:rPr>
              <a:t> variable member</a:t>
            </a:r>
          </a:p>
        </p:txBody>
      </p:sp>
      <p:sp>
        <p:nvSpPr>
          <p:cNvPr id="5735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FB90A0-6536-4C93-B2C3-807F24C31D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/>
          </a:p>
        </p:txBody>
      </p:sp>
      <p:pic>
        <p:nvPicPr>
          <p:cNvPr id="5735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591"/>
          <a:stretch>
            <a:fillRect/>
          </a:stretch>
        </p:blipFill>
        <p:spPr bwMode="auto">
          <a:xfrm>
            <a:off x="93663" y="95250"/>
            <a:ext cx="4191000" cy="1677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419475" y="260350"/>
            <a:ext cx="1584325" cy="3603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Class: “</a:t>
            </a:r>
            <a:r>
              <a:rPr lang="en-US" dirty="0" err="1"/>
              <a:t>Sim</a:t>
            </a:r>
            <a:r>
              <a:rPr lang="en-US" dirty="0"/>
              <a:t>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838" y="1736725"/>
            <a:ext cx="1584325" cy="3603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Other class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642938" y="3716338"/>
            <a:ext cx="120650" cy="768350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5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506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Getter is a method to return a variable to other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2492896"/>
            <a:ext cx="3744416" cy="33969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2852936"/>
            <a:ext cx="3273336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7746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Setter is a method to change a variable’s value from other 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2780928"/>
            <a:ext cx="4389771" cy="3240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068960"/>
            <a:ext cx="3371590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27785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Setter and Getter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46848" cy="4525963"/>
          </a:xfrm>
        </p:spPr>
        <p:txBody>
          <a:bodyPr/>
          <a:lstStyle/>
          <a:p>
            <a:r>
              <a:rPr lang="en-US" sz="2800" dirty="0"/>
              <a:t>Use outside of their class</a:t>
            </a:r>
          </a:p>
          <a:p>
            <a:r>
              <a:rPr lang="en-US" sz="2800" i="1" dirty="0" err="1">
                <a:solidFill>
                  <a:srgbClr val="0000CC"/>
                </a:solidFill>
              </a:rPr>
              <a:t>object.setter</a:t>
            </a:r>
            <a:r>
              <a:rPr lang="en-US" sz="2800" i="1" dirty="0">
                <a:solidFill>
                  <a:srgbClr val="0000CC"/>
                </a:solidFill>
              </a:rPr>
              <a:t>() </a:t>
            </a:r>
            <a:r>
              <a:rPr lang="en-US" sz="2800" dirty="0"/>
              <a:t>and </a:t>
            </a:r>
            <a:r>
              <a:rPr lang="en-US" sz="2800" i="1" dirty="0" err="1">
                <a:solidFill>
                  <a:srgbClr val="FF0000"/>
                </a:solidFill>
              </a:rPr>
              <a:t>object.getter</a:t>
            </a:r>
            <a:r>
              <a:rPr lang="en-US" sz="2800" i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3974" y="1667914"/>
            <a:ext cx="3602522" cy="44253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3356992"/>
            <a:ext cx="5221485" cy="21602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4835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41463"/>
            <a:ext cx="4267200" cy="447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Ex. Getter/ Setter</a:t>
            </a:r>
          </a:p>
        </p:txBody>
      </p:sp>
      <p:sp>
        <p:nvSpPr>
          <p:cNvPr id="4" name="Rectangular Callout 3"/>
          <p:cNvSpPr/>
          <p:nvPr/>
        </p:nvSpPr>
        <p:spPr>
          <a:xfrm>
            <a:off x="838200" y="4343400"/>
            <a:ext cx="4419600" cy="800100"/>
          </a:xfrm>
          <a:prstGeom prst="wedgeRectCallout">
            <a:avLst>
              <a:gd name="adj1" fmla="val 67256"/>
              <a:gd name="adj2" fmla="val -30934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019800" y="4383088"/>
            <a:ext cx="2330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New Setter is added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for setting </a:t>
            </a:r>
            <a:r>
              <a:rPr lang="en-US" altLang="en-US" sz="1800" b="1">
                <a:latin typeface="Calibri" panose="020F0502020204030204" pitchFamily="34" charset="0"/>
              </a:rPr>
              <a:t>age</a:t>
            </a:r>
            <a:r>
              <a:rPr lang="en-US" altLang="en-US" sz="1800">
                <a:latin typeface="Calibri" panose="020F0502020204030204" pitchFamily="34" charset="0"/>
              </a:rPr>
              <a:t> variable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838200" y="3346450"/>
            <a:ext cx="4419600" cy="920750"/>
          </a:xfrm>
          <a:prstGeom prst="wedgeRectCallout">
            <a:avLst>
              <a:gd name="adj1" fmla="val 67256"/>
              <a:gd name="adj2" fmla="val -30934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096000" y="3352800"/>
            <a:ext cx="2363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Also a Setter for setting </a:t>
            </a:r>
            <a:r>
              <a:rPr lang="en-US" altLang="en-US" sz="1800" b="1">
                <a:latin typeface="Calibri" panose="020F0502020204030204" pitchFamily="34" charset="0"/>
              </a:rPr>
              <a:t>name</a:t>
            </a:r>
          </a:p>
        </p:txBody>
      </p:sp>
      <p:sp>
        <p:nvSpPr>
          <p:cNvPr id="10" name="Rectangular Callout 9"/>
          <p:cNvSpPr/>
          <p:nvPr/>
        </p:nvSpPr>
        <p:spPr>
          <a:xfrm>
            <a:off x="838200" y="5181600"/>
            <a:ext cx="4419600" cy="800100"/>
          </a:xfrm>
          <a:prstGeom prst="wedgeRectCallout">
            <a:avLst>
              <a:gd name="adj1" fmla="val 67256"/>
              <a:gd name="adj2" fmla="val -30934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019800" y="5181600"/>
            <a:ext cx="21526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New Getter is added for returning </a:t>
            </a:r>
            <a:r>
              <a:rPr lang="en-US" altLang="en-US" sz="1800" b="1">
                <a:latin typeface="Calibri" panose="020F0502020204030204" pitchFamily="34" charset="0"/>
              </a:rPr>
              <a:t>age</a:t>
            </a:r>
            <a:endParaRPr lang="en-US" altLang="en-US" sz="1800">
              <a:latin typeface="Calibri" panose="020F0502020204030204" pitchFamily="34" charset="0"/>
            </a:endParaRPr>
          </a:p>
        </p:txBody>
      </p:sp>
      <p:sp>
        <p:nvSpPr>
          <p:cNvPr id="5837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C32B46-F873-4C90-A850-BDC04BBF386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/>
          </a:p>
        </p:txBody>
      </p:sp>
      <p:sp>
        <p:nvSpPr>
          <p:cNvPr id="12" name="Rectangle 11"/>
          <p:cNvSpPr/>
          <p:nvPr/>
        </p:nvSpPr>
        <p:spPr>
          <a:xfrm>
            <a:off x="4356100" y="1487488"/>
            <a:ext cx="3600450" cy="7175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Modify code of Class: “</a:t>
            </a:r>
            <a:r>
              <a:rPr lang="en-US" sz="2000" dirty="0" err="1"/>
              <a:t>Sim</a:t>
            </a:r>
            <a:r>
              <a:rPr lang="en-US" sz="2000" dirty="0"/>
              <a:t>”</a:t>
            </a:r>
          </a:p>
        </p:txBody>
      </p:sp>
      <p:sp>
        <p:nvSpPr>
          <p:cNvPr id="58380" name="TextBox 2"/>
          <p:cNvSpPr txBox="1">
            <a:spLocks noChangeArrowheads="1"/>
          </p:cNvSpPr>
          <p:nvPr/>
        </p:nvSpPr>
        <p:spPr bwMode="auto">
          <a:xfrm>
            <a:off x="1358900" y="2997200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270637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6" grpId="0"/>
      <p:bldP spid="10" grpId="0" animBg="1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Ex. Getter/ Setter (Cont.)</a:t>
            </a:r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8" y="3357563"/>
            <a:ext cx="4367212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39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A7EDE0-3AF9-41FF-959F-3BFDE73F41B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/>
          </a:p>
        </p:txBody>
      </p:sp>
      <p:pic>
        <p:nvPicPr>
          <p:cNvPr id="5939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119313"/>
            <a:ext cx="4267200" cy="447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398" name="TextBox 7"/>
          <p:cNvSpPr txBox="1">
            <a:spLocks noChangeArrowheads="1"/>
          </p:cNvSpPr>
          <p:nvPr/>
        </p:nvSpPr>
        <p:spPr bwMode="auto">
          <a:xfrm>
            <a:off x="1071563" y="3605213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………………………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763" y="1230313"/>
            <a:ext cx="3600450" cy="7159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Class: “</a:t>
            </a:r>
            <a:r>
              <a:rPr lang="en-US" sz="2000" dirty="0" err="1"/>
              <a:t>Sim</a:t>
            </a:r>
            <a:r>
              <a:rPr lang="en-US" sz="2000" dirty="0"/>
              <a:t>” after modifying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8263" y="1477963"/>
            <a:ext cx="3576637" cy="172878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000" dirty="0"/>
              <a:t>Other class which create object: “toby” inside and then </a:t>
            </a:r>
            <a:r>
              <a:rPr lang="en-US" sz="2000" u="sng" dirty="0"/>
              <a:t>call method: ‘</a:t>
            </a:r>
            <a:r>
              <a:rPr lang="en-US" sz="2000" u="sng" dirty="0" err="1"/>
              <a:t>setAge</a:t>
            </a:r>
            <a:r>
              <a:rPr lang="en-US" sz="2000" u="sng" dirty="0"/>
              <a:t>()’</a:t>
            </a:r>
            <a:r>
              <a:rPr lang="en-US" sz="2000" dirty="0"/>
              <a:t> for setting age + </a:t>
            </a:r>
            <a:r>
              <a:rPr lang="en-US" sz="2000" u="sng" dirty="0"/>
              <a:t>method: ‘</a:t>
            </a:r>
            <a:r>
              <a:rPr lang="en-US" sz="2000" u="sng" dirty="0" err="1"/>
              <a:t>getAge</a:t>
            </a:r>
            <a:r>
              <a:rPr lang="en-US" sz="2000" u="sng" dirty="0"/>
              <a:t>()’</a:t>
            </a:r>
            <a:r>
              <a:rPr lang="en-US" sz="2000" dirty="0"/>
              <a:t> for getting 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92800" y="4941888"/>
            <a:ext cx="2087563" cy="7905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Result:</a:t>
            </a:r>
          </a:p>
          <a:p>
            <a:pPr algn="ctr" eaLnBrk="1" hangingPunct="1">
              <a:defRPr/>
            </a:pPr>
            <a:r>
              <a:rPr lang="en-GB" dirty="0">
                <a:solidFill>
                  <a:schemeClr val="tx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72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a class “Dog” of which you have created previously, create setter and getter. Draw a new class diagram and Java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5" name="Picture 4" descr="Gerald-G-Dog-Simple-Draw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16217" y="3717032"/>
            <a:ext cx="1257834" cy="26573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2534" y="6493490"/>
            <a:ext cx="7415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* write to the re-use paper provided by lecturer, then submit it to LMS</a:t>
            </a:r>
          </a:p>
        </p:txBody>
      </p:sp>
    </p:spTree>
    <p:extLst>
      <p:ext uri="{BB962C8B-B14F-4D97-AF65-F5344CB8AC3E}">
        <p14:creationId xmlns:p14="http://schemas.microsoft.com/office/powerpoint/2010/main" val="18424120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Constructor</a:t>
            </a:r>
            <a:br>
              <a:rPr lang="en-US" dirty="0"/>
            </a:br>
            <a:endParaRPr lang="en-US" dirty="0"/>
          </a:p>
        </p:txBody>
      </p:sp>
      <p:sp>
        <p:nvSpPr>
          <p:cNvPr id="50179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D6670B-8759-4A29-AB62-8FA46028CF1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9155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Constructor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Each instances contains different value of data members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For convenience, Java provides </a:t>
            </a:r>
            <a:r>
              <a:rPr lang="en-US" sz="2800" b="1" dirty="0"/>
              <a:t>Constructor</a:t>
            </a:r>
            <a:r>
              <a:rPr lang="en-US" sz="2800" dirty="0"/>
              <a:t> which is method </a:t>
            </a:r>
            <a:r>
              <a:rPr lang="en-US" sz="2800" dirty="0">
                <a:solidFill>
                  <a:srgbClr val="0000FF"/>
                </a:solidFill>
              </a:rPr>
              <a:t>called when creating new instance</a:t>
            </a:r>
            <a:r>
              <a:rPr lang="en-US" sz="2800" dirty="0"/>
              <a:t> </a:t>
            </a:r>
            <a:r>
              <a:rPr lang="en-US" sz="2800" u="sng" dirty="0"/>
              <a:t>to initialize/set data members</a:t>
            </a:r>
            <a:r>
              <a:rPr lang="en-US" sz="2800" dirty="0"/>
              <a:t>.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u="sng" dirty="0"/>
              <a:t>Method</a:t>
            </a:r>
            <a:r>
              <a:rPr lang="en-US" sz="2800" dirty="0"/>
              <a:t> with </a:t>
            </a:r>
            <a:r>
              <a:rPr lang="en-US" sz="2800" dirty="0">
                <a:solidFill>
                  <a:srgbClr val="0000FF"/>
                </a:solidFill>
              </a:rPr>
              <a:t>same name as class name</a:t>
            </a:r>
          </a:p>
          <a:p>
            <a:pPr>
              <a:defRPr/>
            </a:pPr>
            <a:endParaRPr lang="en-US" sz="2800" dirty="0"/>
          </a:p>
          <a:p>
            <a:pPr marL="0" indent="0">
              <a:buFontTx/>
              <a:buNone/>
              <a:defRPr/>
            </a:pPr>
            <a:endParaRPr lang="en-US" sz="2400" dirty="0"/>
          </a:p>
        </p:txBody>
      </p:sp>
      <p:sp>
        <p:nvSpPr>
          <p:cNvPr id="51204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38896C-C7EA-49DE-ADE9-9B1E0A18717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/>
          </a:p>
        </p:txBody>
      </p:sp>
      <p:pic>
        <p:nvPicPr>
          <p:cNvPr id="51205" name="Picture 5" descr="C:\Users\hp\AppData\Local\Microsoft\Windows\Temporary Internet Files\Content.IE5\2GN4VI1X\MC90018376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27"/>
          <a:stretch>
            <a:fillRect/>
          </a:stretch>
        </p:blipFill>
        <p:spPr bwMode="auto">
          <a:xfrm>
            <a:off x="5867400" y="4764088"/>
            <a:ext cx="3348038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62547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Constructor (Cont.)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altLang="en-US" sz="2800"/>
              <a:t>One class can contains </a:t>
            </a:r>
            <a:r>
              <a:rPr lang="en-US" altLang="en-US" sz="2800">
                <a:solidFill>
                  <a:srgbClr val="0000FF"/>
                </a:solidFill>
              </a:rPr>
              <a:t>multiple constructors</a:t>
            </a:r>
            <a:r>
              <a:rPr lang="en-US" altLang="en-US" sz="2800" u="sng"/>
              <a:t> </a:t>
            </a:r>
            <a:r>
              <a:rPr lang="en-US" altLang="en-US" sz="2800"/>
              <a:t>which get </a:t>
            </a:r>
            <a:r>
              <a:rPr lang="en-US" altLang="en-US" sz="2800" u="sng"/>
              <a:t>different arguments</a:t>
            </a:r>
          </a:p>
          <a:p>
            <a:endParaRPr lang="en-US" altLang="en-US" sz="2800" u="sng"/>
          </a:p>
          <a:p>
            <a:r>
              <a:rPr lang="en-US" altLang="en-US" sz="2800"/>
              <a:t>When constructor is not declared, a constructor without arguments is default</a:t>
            </a:r>
          </a:p>
        </p:txBody>
      </p:sp>
      <p:sp>
        <p:nvSpPr>
          <p:cNvPr id="5222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4F6873-22CA-49ED-9DAC-E5861951415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pic>
        <p:nvPicPr>
          <p:cNvPr id="52229" name="Picture 5" descr="C:\Users\hp\AppData\Local\Microsoft\Windows\Temporary Internet Files\Content.IE5\2GN4VI1X\MC90018376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27"/>
          <a:stretch>
            <a:fillRect/>
          </a:stretch>
        </p:blipFill>
        <p:spPr bwMode="auto">
          <a:xfrm>
            <a:off x="5867400" y="4764088"/>
            <a:ext cx="3348038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530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322388"/>
            <a:ext cx="4191000" cy="502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Sample: Constructor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2438400" y="3068638"/>
            <a:ext cx="4114800" cy="3276600"/>
          </a:xfrm>
          <a:prstGeom prst="wedgeRectCallout">
            <a:avLst>
              <a:gd name="adj1" fmla="val 56313"/>
              <a:gd name="adj2" fmla="val -31780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3253" name="TextBox 5"/>
          <p:cNvSpPr txBox="1">
            <a:spLocks noChangeArrowheads="1"/>
          </p:cNvSpPr>
          <p:nvPr/>
        </p:nvSpPr>
        <p:spPr bwMode="auto">
          <a:xfrm>
            <a:off x="6781800" y="3509963"/>
            <a:ext cx="22225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Multiple Constructors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with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libri" panose="020F0502020204030204" pitchFamily="34" charset="0"/>
              </a:rPr>
              <a:t>different arguments  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057400" y="3276600"/>
            <a:ext cx="609600" cy="108743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057400" y="4364038"/>
            <a:ext cx="609600" cy="2079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057400" y="4364038"/>
            <a:ext cx="685800" cy="96996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4800" y="3962400"/>
            <a:ext cx="17526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latin typeface="+mn-lt"/>
                <a:cs typeface="+mn-cs"/>
              </a:rPr>
              <a:t>Methods with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latin typeface="+mn-lt"/>
                <a:cs typeface="+mn-cs"/>
              </a:rPr>
              <a:t>Same name as class name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latin typeface="+mn-lt"/>
                <a:cs typeface="+mn-cs"/>
              </a:rPr>
              <a:t>No return type defined</a:t>
            </a:r>
          </a:p>
        </p:txBody>
      </p:sp>
      <p:sp>
        <p:nvSpPr>
          <p:cNvPr id="53258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F88FE2-8FCE-48A6-82CB-FF19A4E5E89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/>
          </a:p>
        </p:txBody>
      </p:sp>
      <p:pic>
        <p:nvPicPr>
          <p:cNvPr id="53259" name="Picture 11" descr="C:\Users\hp\AppData\Local\Microsoft\Windows\Temporary Internet Files\Content.IE5\FCTUO4U2\MC90015788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363" y="12700"/>
            <a:ext cx="1798637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82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1" descr="C:\Users\hp\AppData\Local\Microsoft\Windows\Temporary Internet Files\Content.IE5\FCTUO4U2\MC900157887[1].wmf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363" y="12700"/>
            <a:ext cx="1798637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Constructor: How does it work?</a:t>
            </a:r>
          </a:p>
        </p:txBody>
      </p:sp>
      <p:sp>
        <p:nvSpPr>
          <p:cNvPr id="5530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530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A45C72-0498-40EA-B76C-7A5066E0E6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/>
          </a:p>
        </p:txBody>
      </p:sp>
      <p:pic>
        <p:nvPicPr>
          <p:cNvPr id="553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484313"/>
            <a:ext cx="4191000" cy="5022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38"/>
          <a:stretch>
            <a:fillRect/>
          </a:stretch>
        </p:blipFill>
        <p:spPr bwMode="auto">
          <a:xfrm>
            <a:off x="4716463" y="2636838"/>
            <a:ext cx="4318000" cy="2727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H="1">
            <a:off x="2203450" y="3068638"/>
            <a:ext cx="2576513" cy="360362"/>
          </a:xfrm>
          <a:prstGeom prst="straightConnector1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276600" y="4365625"/>
            <a:ext cx="1503363" cy="358775"/>
          </a:xfrm>
          <a:prstGeom prst="straightConnector1">
            <a:avLst/>
          </a:prstGeom>
          <a:ln w="4445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276600" y="5048250"/>
            <a:ext cx="1503363" cy="360363"/>
          </a:xfrm>
          <a:prstGeom prst="straightConnector1">
            <a:avLst/>
          </a:prstGeom>
          <a:ln w="44450">
            <a:solidFill>
              <a:srgbClr val="00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ular Callout 15"/>
          <p:cNvSpPr/>
          <p:nvPr/>
        </p:nvSpPr>
        <p:spPr>
          <a:xfrm>
            <a:off x="4427538" y="1196975"/>
            <a:ext cx="2592387" cy="576263"/>
          </a:xfrm>
          <a:prstGeom prst="wedgeRoundRectCallout">
            <a:avLst>
              <a:gd name="adj1" fmla="val 67089"/>
              <a:gd name="adj2" fmla="val -6069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How many created objects (people)???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5297488" y="1895475"/>
            <a:ext cx="2592387" cy="576263"/>
          </a:xfrm>
          <a:prstGeom prst="wedgeRoundRectCallout">
            <a:avLst>
              <a:gd name="adj1" fmla="val 67089"/>
              <a:gd name="adj2" fmla="val -6069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Which constructor is called?</a:t>
            </a:r>
          </a:p>
        </p:txBody>
      </p:sp>
      <p:sp>
        <p:nvSpPr>
          <p:cNvPr id="20" name="Oval 19"/>
          <p:cNvSpPr/>
          <p:nvPr/>
        </p:nvSpPr>
        <p:spPr>
          <a:xfrm>
            <a:off x="5292725" y="2852738"/>
            <a:ext cx="569913" cy="423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5281613" y="4152900"/>
            <a:ext cx="730250" cy="42386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281613" y="4935538"/>
            <a:ext cx="730250" cy="422275"/>
          </a:xfrm>
          <a:prstGeom prst="ellipse">
            <a:avLst/>
          </a:prstGeom>
          <a:noFill/>
          <a:ln>
            <a:solidFill>
              <a:srgbClr val="00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7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82752" cy="4525963"/>
          </a:xfrm>
        </p:spPr>
        <p:txBody>
          <a:bodyPr/>
          <a:lstStyle/>
          <a:p>
            <a:r>
              <a:rPr lang="en-US" sz="2400" dirty="0"/>
              <a:t>A method having the same name of its class</a:t>
            </a:r>
          </a:p>
          <a:p>
            <a:r>
              <a:rPr lang="en-US" sz="2400" dirty="0"/>
              <a:t>To give the initial values to class’s variables</a:t>
            </a:r>
          </a:p>
          <a:p>
            <a:r>
              <a:rPr lang="en-US" sz="2400" dirty="0"/>
              <a:t>No return type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1700807"/>
            <a:ext cx="5040560" cy="41549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08700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constructor to your class “Dog”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2535" y="6241579"/>
            <a:ext cx="706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* write to the re-use paper provided by lecturer</a:t>
            </a:r>
          </a:p>
        </p:txBody>
      </p:sp>
    </p:spTree>
    <p:extLst>
      <p:ext uri="{BB962C8B-B14F-4D97-AF65-F5344CB8AC3E}">
        <p14:creationId xmlns:p14="http://schemas.microsoft.com/office/powerpoint/2010/main" val="3521749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Overloaded Constructors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466728" cy="4525963"/>
          </a:xfrm>
        </p:spPr>
        <p:txBody>
          <a:bodyPr/>
          <a:lstStyle/>
          <a:p>
            <a:r>
              <a:rPr lang="en-US" sz="2800" dirty="0"/>
              <a:t>Two or more constructors with different types or number of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1268760"/>
            <a:ext cx="5048250" cy="5019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25166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types comparable with Base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9E45FA-AFE7-407E-927D-71422375B87A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348880"/>
            <a:ext cx="8582889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55576" y="630932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latin typeface="+mn-lt"/>
              </a:rPr>
              <a:t>Image source: M. T. Goodrich et. al., Data Structures and Algorithms in Java </a:t>
            </a:r>
          </a:p>
        </p:txBody>
      </p:sp>
    </p:spTree>
    <p:extLst>
      <p:ext uri="{BB962C8B-B14F-4D97-AF65-F5344CB8AC3E}">
        <p14:creationId xmlns:p14="http://schemas.microsoft.com/office/powerpoint/2010/main" val="34725070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Study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the following OOP concepts by yourself</a:t>
            </a:r>
          </a:p>
          <a:p>
            <a:pPr lvl="1"/>
            <a:r>
              <a:rPr lang="en-US" dirty="0"/>
              <a:t>Com Pro: </a:t>
            </a:r>
            <a:r>
              <a:rPr lang="en-US" dirty="0">
                <a:solidFill>
                  <a:srgbClr val="FF0000"/>
                </a:solidFill>
              </a:rPr>
              <a:t>chapter 10</a:t>
            </a:r>
          </a:p>
          <a:p>
            <a:pPr lvl="1"/>
            <a:r>
              <a:rPr lang="en-US" dirty="0"/>
              <a:t>Static Variable &amp; Static Method</a:t>
            </a:r>
          </a:p>
          <a:p>
            <a:pPr lvl="1"/>
            <a:r>
              <a:rPr lang="en-US" dirty="0"/>
              <a:t>Keeping encapsulation</a:t>
            </a:r>
          </a:p>
          <a:p>
            <a:pPr lvl="1"/>
            <a:r>
              <a:rPr lang="en-US" dirty="0"/>
              <a:t>Inheritance</a:t>
            </a:r>
          </a:p>
          <a:p>
            <a:pPr lvl="1"/>
            <a:r>
              <a:rPr lang="en-US" dirty="0"/>
              <a:t>Polymorphism</a:t>
            </a:r>
          </a:p>
          <a:p>
            <a:pPr lvl="1"/>
            <a:r>
              <a:rPr lang="en-US" dirty="0"/>
              <a:t>Abstract class and Interface</a:t>
            </a:r>
          </a:p>
          <a:p>
            <a:pPr lvl="1"/>
            <a:r>
              <a:rPr lang="en-US" dirty="0"/>
              <a:t>Exceptions</a:t>
            </a:r>
          </a:p>
          <a:p>
            <a:pPr lvl="1"/>
            <a:r>
              <a:rPr lang="en-US" dirty="0"/>
              <a:t>Nested classes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58E828-CDFC-4266-ABFD-F33523A73748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082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2E5BD3-6410-4240-A091-4A4449560043}" type="slidenum">
              <a:rPr lang="en-US" smtClean="0"/>
              <a:pPr>
                <a:defRPr/>
              </a:pPr>
              <a:t>50</a:t>
            </a:fld>
            <a:endParaRPr lang="th-TH" dirty="0"/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Class Design Hints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dirty="0"/>
              <a:t>Always keep data </a:t>
            </a:r>
            <a:r>
              <a:rPr lang="en-US" i="1" dirty="0">
                <a:solidFill>
                  <a:srgbClr val="FF0000"/>
                </a:solidFill>
              </a:rPr>
              <a:t>private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Always initialize data (e.g. by constructor)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Use </a:t>
            </a:r>
            <a:r>
              <a:rPr lang="en-US" i="1" dirty="0">
                <a:solidFill>
                  <a:srgbClr val="0000CC"/>
                </a:solidFill>
              </a:rPr>
              <a:t>setter</a:t>
            </a:r>
            <a:r>
              <a:rPr lang="en-US" dirty="0"/>
              <a:t> and </a:t>
            </a:r>
            <a:r>
              <a:rPr lang="en-US" i="1" dirty="0">
                <a:solidFill>
                  <a:srgbClr val="0000CC"/>
                </a:solidFill>
              </a:rPr>
              <a:t>getter</a:t>
            </a:r>
            <a:r>
              <a:rPr lang="en-US" dirty="0"/>
              <a:t> methods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Make classes and methods’ names reflect their responsibilities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dirty="0"/>
              <a:t>If a class is too large, try to split it to smaller classes</a:t>
            </a:r>
          </a:p>
          <a:p>
            <a:pPr marL="609600" indent="-609600" eaLnBrk="1" hangingPunct="1">
              <a:buFontTx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67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 we need different data structures?</a:t>
            </a:r>
          </a:p>
          <a:p>
            <a:r>
              <a:rPr lang="en-US" dirty="0"/>
              <a:t>What would be advantages for studying data structures and algorithms?</a:t>
            </a:r>
          </a:p>
          <a:p>
            <a:r>
              <a:rPr lang="en-US" dirty="0"/>
              <a:t>How different is structural programming and OOP?</a:t>
            </a:r>
          </a:p>
          <a:p>
            <a:r>
              <a:rPr lang="en-US" dirty="0"/>
              <a:t>What is data encapsulation?</a:t>
            </a:r>
          </a:p>
        </p:txBody>
      </p:sp>
      <p:sp>
        <p:nvSpPr>
          <p:cNvPr id="3" name="ตัวยึดหมายเลขภาพนิ่ง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58E828-CDFC-4266-ABFD-F33523A73748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5824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ambria"/>
        <a:ea typeface=""/>
        <a:cs typeface="Arial"/>
      </a:majorFont>
      <a:minorFont>
        <a:latin typeface="Cambri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10731</TotalTime>
  <Words>1846</Words>
  <Application>Microsoft Office PowerPoint</Application>
  <PresentationFormat>On-screen Show (4:3)</PresentationFormat>
  <Paragraphs>418</Paragraphs>
  <Slides>51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Cambria</vt:lpstr>
      <vt:lpstr>Default Design</vt:lpstr>
      <vt:lpstr>1501118 Data Structures and Algorithms Lecture 1: Introduction</vt:lpstr>
      <vt:lpstr>Outline</vt:lpstr>
      <vt:lpstr>Why Studying Data Structures &amp; Algorithms?</vt:lpstr>
      <vt:lpstr>Why Studying Data Structures &amp; Algorithms?</vt:lpstr>
      <vt:lpstr>Example of Data Structures</vt:lpstr>
      <vt:lpstr>Example of Algorithms</vt:lpstr>
      <vt:lpstr>Suggested Self Review</vt:lpstr>
      <vt:lpstr>Course Description</vt:lpstr>
      <vt:lpstr>Course Plan: Midterm</vt:lpstr>
      <vt:lpstr>Course Plan: Final</vt:lpstr>
      <vt:lpstr>Course Schedule</vt:lpstr>
      <vt:lpstr>Evaluation</vt:lpstr>
      <vt:lpstr>Grading</vt:lpstr>
      <vt:lpstr>References</vt:lpstr>
      <vt:lpstr>References</vt:lpstr>
      <vt:lpstr>References</vt:lpstr>
      <vt:lpstr>Contact Us</vt:lpstr>
      <vt:lpstr>Object-Oriented Programing (Java—CLASS)</vt:lpstr>
      <vt:lpstr>Basic Java</vt:lpstr>
      <vt:lpstr>Based Type (Primitive Type)</vt:lpstr>
      <vt:lpstr>Object-Oriented Programming</vt:lpstr>
      <vt:lpstr>OOP vs. Structured Programming</vt:lpstr>
      <vt:lpstr>Example of OOP &lt;Class &amp; Objects&gt;</vt:lpstr>
      <vt:lpstr>Class’s Components</vt:lpstr>
      <vt:lpstr>Class Diagram</vt:lpstr>
      <vt:lpstr>Class Declaration</vt:lpstr>
      <vt:lpstr>Modifier</vt:lpstr>
      <vt:lpstr>Exercise</vt:lpstr>
      <vt:lpstr>Objects</vt:lpstr>
      <vt:lpstr>Creating Objects</vt:lpstr>
      <vt:lpstr>Using Sim Class</vt:lpstr>
      <vt:lpstr>Getter and Setter</vt:lpstr>
      <vt:lpstr>Getter/ Setter</vt:lpstr>
      <vt:lpstr>Getter</vt:lpstr>
      <vt:lpstr>Setter</vt:lpstr>
      <vt:lpstr>Using Setter and Getter</vt:lpstr>
      <vt:lpstr>Ex. Getter/ Setter</vt:lpstr>
      <vt:lpstr>Ex. Getter/ Setter (Cont.)</vt:lpstr>
      <vt:lpstr>Exercise</vt:lpstr>
      <vt:lpstr>Constructor </vt:lpstr>
      <vt:lpstr>Constructor</vt:lpstr>
      <vt:lpstr>Constructor (Cont.)</vt:lpstr>
      <vt:lpstr>Sample: Constructor</vt:lpstr>
      <vt:lpstr>Constructor: How does it work?</vt:lpstr>
      <vt:lpstr>EX. Constructor</vt:lpstr>
      <vt:lpstr>Exercise</vt:lpstr>
      <vt:lpstr>Overloaded Constructors</vt:lpstr>
      <vt:lpstr>Wrapper Types</vt:lpstr>
      <vt:lpstr>Self Study</vt:lpstr>
      <vt:lpstr>Class Design Hints</vt:lpstr>
      <vt:lpstr>Summary</vt:lpstr>
    </vt:vector>
  </TitlesOfParts>
  <Company>MFU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 Week 10: Control Statement</dc:title>
  <dc:creator>Surapong</dc:creator>
  <cp:lastModifiedBy>LAB</cp:lastModifiedBy>
  <cp:revision>1021</cp:revision>
  <cp:lastPrinted>2019-01-30T10:49:53Z</cp:lastPrinted>
  <dcterms:created xsi:type="dcterms:W3CDTF">2009-12-19T11:55:04Z</dcterms:created>
  <dcterms:modified xsi:type="dcterms:W3CDTF">2023-02-17T06:05:19Z</dcterms:modified>
</cp:coreProperties>
</file>